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777"/>
    <a:srgbClr val="0B5852"/>
    <a:srgbClr val="149C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01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831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sync — three active ML initiatives from R&amp;D.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1752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87226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417849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0973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89448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of all three projects — status, this week's work, next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20767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voxcpm.readthedocs.io/en/latest/cookbook.html" TargetMode="External"/><Relationship Id="rId5" Type="http://schemas.openxmlformats.org/officeDocument/2006/relationships/hyperlink" Target="https://svgsilh.com/image/2936214.html" TargetMode="Externa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hyperlink" Target="https://claude.ai/code/artifact/95f1b9f5-f6b6-4148-adca-6b72fc17406b"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claude.ai/code/artifact/afd773b6-dbb3-4b72-9b81-476fc8c924ad"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claude.ai/code/artifact/b2911b8d-cc30-4bbd-80fc-d49df84d94cd" TargetMode="External"/><Relationship Id="rId5" Type="http://schemas.openxmlformats.org/officeDocument/2006/relationships/hyperlink" Target="https://svgsilh.com/image/2936214.html" TargetMode="Externa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B37"/>
        </a:solidFill>
        <a:effectLst/>
      </p:bgPr>
    </p:bg>
    <p:spTree>
      <p:nvGrpSpPr>
        <p:cNvPr id="1" name=""/>
        <p:cNvGrpSpPr/>
        <p:nvPr/>
      </p:nvGrpSpPr>
      <p:grpSpPr>
        <a:xfrm>
          <a:off x="0" y="0"/>
          <a:ext cx="0" cy="0"/>
          <a:chOff x="0" y="0"/>
          <a:chExt cx="0" cy="0"/>
        </a:xfrm>
      </p:grpSpPr>
      <p:sp>
        <p:nvSpPr>
          <p:cNvPr id="2" name="Shape 0"/>
          <p:cNvSpPr/>
          <p:nvPr/>
        </p:nvSpPr>
        <p:spPr>
          <a:xfrm>
            <a:off x="419019" y="419019"/>
            <a:ext cx="17449962" cy="9448962"/>
          </a:xfrm>
          <a:prstGeom prst="rect">
            <a:avLst/>
          </a:prstGeom>
          <a:ln w="8659">
            <a:solidFill>
              <a:srgbClr val="F8F8F5">
                <a:alpha val="30000"/>
              </a:srgbClr>
            </a:solidFill>
            <a:prstDash val="solid"/>
          </a:ln>
        </p:spPr>
      </p:sp>
      <p:sp>
        <p:nvSpPr>
          <p:cNvPr id="4" name="Shape 1"/>
          <p:cNvSpPr/>
          <p:nvPr/>
        </p:nvSpPr>
        <p:spPr>
          <a:xfrm>
            <a:off x="1047750" y="1013533"/>
            <a:ext cx="914346" cy="38019"/>
          </a:xfrm>
          <a:prstGeom prst="rect">
            <a:avLst/>
          </a:prstGeom>
          <a:solidFill>
            <a:srgbClr val="FAF8F4"/>
          </a:solidFill>
          <a:ln/>
        </p:spPr>
      </p:sp>
      <p:sp>
        <p:nvSpPr>
          <p:cNvPr id="5" name="Text 2"/>
          <p:cNvSpPr/>
          <p:nvPr/>
        </p:nvSpPr>
        <p:spPr>
          <a:xfrm>
            <a:off x="1047750" y="1141079"/>
            <a:ext cx="17811750" cy="392446"/>
          </a:xfrm>
          <a:prstGeom prst="rect">
            <a:avLst/>
          </a:prstGeom>
          <a:noFill/>
          <a:ln/>
        </p:spPr>
        <p:txBody>
          <a:bodyPr wrap="square" lIns="25400" tIns="25400" rIns="25400" bIns="25400" rtlCol="0" anchor="t">
            <a:normAutofit/>
          </a:bodyPr>
          <a:lstStyle/>
          <a:p>
            <a:pPr marL="0" indent="0" algn="l">
              <a:lnSpc>
                <a:spcPct val="132000"/>
              </a:lnSpc>
              <a:buNone/>
            </a:pPr>
            <a:r>
              <a:rPr lang="en-US" sz="1800" b="1" kern="0" spc="180" dirty="0">
                <a:solidFill>
                  <a:srgbClr val="ABCFCC"/>
                </a:solidFill>
                <a:latin typeface="Cambria" panose="02040503050406030204" pitchFamily="18" charset="0"/>
                <a:ea typeface="Cambria" panose="02040503050406030204" pitchFamily="18" charset="0"/>
                <a:cs typeface="Barlow Condensed" pitchFamily="34" charset="-120"/>
              </a:rPr>
              <a:t>SMEAN </a:t>
            </a:r>
            <a:r>
              <a:rPr lang="en-US" b="1" kern="0" spc="180" dirty="0">
                <a:solidFill>
                  <a:srgbClr val="ABCFCC"/>
                </a:solidFill>
                <a:latin typeface="Cambria" panose="02040503050406030204" pitchFamily="18" charset="0"/>
                <a:ea typeface="Cambria" panose="02040503050406030204" pitchFamily="18" charset="0"/>
                <a:cs typeface="Barlow Condensed" pitchFamily="34" charset="-120"/>
              </a:rPr>
              <a:t>AI</a:t>
            </a:r>
            <a:endParaRPr lang="en-US" sz="1800" dirty="0">
              <a:latin typeface="Cambria" panose="02040503050406030204" pitchFamily="18" charset="0"/>
              <a:ea typeface="Cambria" panose="02040503050406030204" pitchFamily="18" charset="0"/>
            </a:endParaRPr>
          </a:p>
        </p:txBody>
      </p:sp>
      <p:sp>
        <p:nvSpPr>
          <p:cNvPr id="6" name="Text 3"/>
          <p:cNvSpPr/>
          <p:nvPr/>
        </p:nvSpPr>
        <p:spPr>
          <a:xfrm>
            <a:off x="1047750" y="2901145"/>
            <a:ext cx="9378950" cy="3041480"/>
          </a:xfrm>
          <a:prstGeom prst="rect">
            <a:avLst/>
          </a:prstGeom>
          <a:noFill/>
          <a:ln/>
        </p:spPr>
        <p:txBody>
          <a:bodyPr wrap="square" lIns="25400" tIns="25400" rIns="25400" bIns="25400" rtlCol="0" anchor="t">
            <a:noAutofit/>
          </a:bodyPr>
          <a:lstStyle/>
          <a:p>
            <a:pPr marL="0" indent="0" algn="l">
              <a:buNone/>
            </a:pPr>
            <a:r>
              <a:rPr lang="en-US" sz="9600" b="1" kern="0" spc="-76" dirty="0">
                <a:solidFill>
                  <a:srgbClr val="FAF8F4"/>
                </a:solidFill>
                <a:latin typeface="Georgia" panose="02040502050405020303" pitchFamily="18" charset="0"/>
                <a:ea typeface="Barlow Condensed" pitchFamily="34" charset="-122"/>
                <a:cs typeface="Barlow Condensed" pitchFamily="34" charset="-120"/>
              </a:rPr>
              <a:t>Project Status Update</a:t>
            </a:r>
            <a:endParaRPr lang="en-US" sz="9600" dirty="0">
              <a:latin typeface="Georgia" panose="02040502050405020303" pitchFamily="18" charset="0"/>
            </a:endParaRPr>
          </a:p>
        </p:txBody>
      </p:sp>
      <p:sp>
        <p:nvSpPr>
          <p:cNvPr id="17" name="Text 15">
            <a:extLst>
              <a:ext uri="{FF2B5EF4-FFF2-40B4-BE49-F238E27FC236}">
                <a16:creationId xmlns:a16="http://schemas.microsoft.com/office/drawing/2014/main" id="{E719BCA2-E81C-44D0-9F37-1AE896A7D375}"/>
              </a:ext>
            </a:extLst>
          </p:cNvPr>
          <p:cNvSpPr/>
          <p:nvPr/>
        </p:nvSpPr>
        <p:spPr>
          <a:xfrm>
            <a:off x="1047749" y="6807969"/>
            <a:ext cx="7078819" cy="1775498"/>
          </a:xfrm>
          <a:prstGeom prst="rect">
            <a:avLst/>
          </a:prstGeom>
          <a:noFill/>
          <a:ln/>
        </p:spPr>
        <p:txBody>
          <a:bodyPr wrap="square" lIns="25400" tIns="25400" rIns="25400" bIns="25400" rtlCol="0" anchor="t">
            <a:noAutofit/>
          </a:bodyPr>
          <a:lstStyle/>
          <a:p>
            <a:pPr marL="0" indent="0" algn="l">
              <a:buNone/>
            </a:pPr>
            <a:r>
              <a:rPr lang="en-US" sz="2800" spc="300" dirty="0">
                <a:solidFill>
                  <a:schemeClr val="bg2">
                    <a:lumMod val="90000"/>
                  </a:schemeClr>
                </a:solidFill>
                <a:latin typeface="Cambria" panose="02040503050406030204" pitchFamily="18" charset="0"/>
                <a:ea typeface="Cambria" panose="02040503050406030204" pitchFamily="18" charset="0"/>
                <a:cs typeface="Barlow" pitchFamily="34" charset="-120"/>
              </a:rPr>
              <a:t>R&amp;D Department</a:t>
            </a:r>
          </a:p>
          <a:p>
            <a:pPr marL="0" indent="0" algn="l">
              <a:buNone/>
            </a:pPr>
            <a:endParaRPr lang="en-US" sz="2800" spc="300" dirty="0">
              <a:solidFill>
                <a:schemeClr val="bg2">
                  <a:lumMod val="90000"/>
                </a:schemeClr>
              </a:solidFill>
              <a:latin typeface="Cambria" panose="02040503050406030204" pitchFamily="18" charset="0"/>
              <a:ea typeface="Cambria" panose="02040503050406030204" pitchFamily="18" charset="0"/>
            </a:endParaRPr>
          </a:p>
          <a:p>
            <a:pPr marL="0" indent="0" algn="l">
              <a:buNone/>
            </a:pPr>
            <a:r>
              <a:rPr lang="en-US" dirty="0">
                <a:solidFill>
                  <a:schemeClr val="bg2">
                    <a:lumMod val="90000"/>
                  </a:schemeClr>
                </a:solidFill>
                <a:latin typeface="Cambria" panose="02040503050406030204" pitchFamily="18" charset="0"/>
                <a:ea typeface="Cambria" panose="02040503050406030204" pitchFamily="18" charset="0"/>
              </a:rPr>
              <a:t>13 September 2026</a:t>
            </a:r>
          </a:p>
        </p:txBody>
      </p:sp>
      <p:pic>
        <p:nvPicPr>
          <p:cNvPr id="19" name="Graphic 18">
            <a:extLst>
              <a:ext uri="{FF2B5EF4-FFF2-40B4-BE49-F238E27FC236}">
                <a16:creationId xmlns:a16="http://schemas.microsoft.com/office/drawing/2014/main" id="{F37B6732-0E7F-4A9B-9C55-0173BE56B5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20518" y="1117331"/>
            <a:ext cx="7820616" cy="805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5143500" cy="10287000"/>
          </a:xfrm>
          <a:prstGeom prst="rect">
            <a:avLst/>
          </a:prstGeom>
          <a:solidFill>
            <a:srgbClr val="083B37"/>
          </a:solidFill>
          <a:ln/>
        </p:spPr>
      </p:sp>
      <p:sp>
        <p:nvSpPr>
          <p:cNvPr id="6" name="Text 3"/>
          <p:cNvSpPr/>
          <p:nvPr/>
        </p:nvSpPr>
        <p:spPr>
          <a:xfrm>
            <a:off x="326794" y="2708324"/>
            <a:ext cx="4533981" cy="2195838"/>
          </a:xfrm>
          <a:prstGeom prst="rect">
            <a:avLst/>
          </a:prstGeom>
          <a:noFill/>
          <a:ln/>
        </p:spPr>
        <p:txBody>
          <a:bodyPr wrap="square" lIns="25400" tIns="25400" rIns="25400" bIns="25400" rtlCol="0" anchor="t">
            <a:noAutofit/>
          </a:bodyPr>
          <a:lstStyle/>
          <a:p>
            <a:pPr marL="0" indent="0" algn="l">
              <a:lnSpc>
                <a:spcPct val="90000"/>
              </a:lnSpc>
              <a:buNone/>
            </a:pPr>
            <a:r>
              <a:rPr lang="en-US" sz="7200" b="1" kern="0" spc="-56" dirty="0">
                <a:solidFill>
                  <a:srgbClr val="FAF8F4"/>
                </a:solidFill>
                <a:latin typeface="Georgia" panose="02040502050405020303" pitchFamily="18" charset="0"/>
                <a:ea typeface="Barlow Condensed" pitchFamily="34" charset="-122"/>
                <a:cs typeface="Barlow Condensed" pitchFamily="34" charset="-120"/>
              </a:rPr>
              <a:t>KPI Overview</a:t>
            </a:r>
            <a:endParaRPr lang="en-US" sz="7200" dirty="0">
              <a:latin typeface="Georgia" panose="02040502050405020303" pitchFamily="18" charset="0"/>
            </a:endParaRPr>
          </a:p>
        </p:txBody>
      </p:sp>
      <p:sp>
        <p:nvSpPr>
          <p:cNvPr id="7" name="Text 4"/>
          <p:cNvSpPr/>
          <p:nvPr/>
        </p:nvSpPr>
        <p:spPr>
          <a:xfrm>
            <a:off x="326794" y="5022369"/>
            <a:ext cx="4042197" cy="1152281"/>
          </a:xfrm>
          <a:prstGeom prst="rect">
            <a:avLst/>
          </a:prstGeom>
          <a:noFill/>
          <a:ln/>
        </p:spPr>
        <p:txBody>
          <a:bodyPr wrap="square" lIns="25400" tIns="25400" rIns="25400" bIns="25400" rtlCol="0" anchor="t">
            <a:normAutofit/>
          </a:bodyPr>
          <a:lstStyle/>
          <a:p>
            <a:pPr marL="0" indent="0">
              <a:buNone/>
            </a:pPr>
            <a:r>
              <a:rPr lang="en-US" dirty="0">
                <a:solidFill>
                  <a:srgbClr val="DBEAE9"/>
                </a:solidFill>
                <a:latin typeface="Cambria" panose="02040503050406030204" pitchFamily="18" charset="0"/>
                <a:ea typeface="Cambria" panose="02040503050406030204" pitchFamily="18" charset="0"/>
                <a:cs typeface="Barlow" pitchFamily="34" charset="-120"/>
              </a:rPr>
              <a:t>Task, Status, Achievements, and Next Step</a:t>
            </a:r>
            <a:endParaRPr lang="en-US" dirty="0">
              <a:latin typeface="Cambria" panose="02040503050406030204" pitchFamily="18" charset="0"/>
              <a:ea typeface="Cambria" panose="02040503050406030204" pitchFamily="18" charset="0"/>
            </a:endParaRPr>
          </a:p>
        </p:txBody>
      </p:sp>
      <p:sp>
        <p:nvSpPr>
          <p:cNvPr id="10" name="Shape 7"/>
          <p:cNvSpPr/>
          <p:nvPr/>
        </p:nvSpPr>
        <p:spPr>
          <a:xfrm>
            <a:off x="5143500" y="0"/>
            <a:ext cx="13144500" cy="10287000"/>
          </a:xfrm>
          <a:prstGeom prst="rect">
            <a:avLst/>
          </a:prstGeom>
          <a:solidFill>
            <a:srgbClr val="FAF8F4"/>
          </a:solidFill>
          <a:ln/>
        </p:spPr>
      </p:sp>
      <p:sp>
        <p:nvSpPr>
          <p:cNvPr id="11" name="Shape 8"/>
          <p:cNvSpPr/>
          <p:nvPr/>
        </p:nvSpPr>
        <p:spPr>
          <a:xfrm>
            <a:off x="6057846" y="838173"/>
            <a:ext cx="11315808" cy="3068700"/>
          </a:xfrm>
          <a:prstGeom prst="rect">
            <a:avLst/>
          </a:prstGeom>
          <a:solidFill>
            <a:srgbClr val="F2EFE8"/>
          </a:solidFill>
          <a:ln w="8659">
            <a:solidFill>
              <a:srgbClr val="DED8C8"/>
            </a:solidFill>
            <a:prstDash val="solid"/>
          </a:ln>
        </p:spPr>
      </p:sp>
      <p:sp>
        <p:nvSpPr>
          <p:cNvPr id="12" name="Shape 9"/>
          <p:cNvSpPr/>
          <p:nvPr/>
        </p:nvSpPr>
        <p:spPr>
          <a:xfrm>
            <a:off x="6428428" y="1827880"/>
            <a:ext cx="10574644" cy="17318"/>
          </a:xfrm>
          <a:prstGeom prst="rect">
            <a:avLst/>
          </a:prstGeom>
          <a:solidFill>
            <a:srgbClr val="0F766E"/>
          </a:solidFill>
          <a:ln/>
        </p:spPr>
      </p:sp>
      <p:sp>
        <p:nvSpPr>
          <p:cNvPr id="13" name="Text 10"/>
          <p:cNvSpPr/>
          <p:nvPr/>
        </p:nvSpPr>
        <p:spPr>
          <a:xfrm>
            <a:off x="6428428" y="1029007"/>
            <a:ext cx="2977510" cy="448794"/>
          </a:xfrm>
          <a:prstGeom prst="rect">
            <a:avLst/>
          </a:prstGeom>
          <a:noFill/>
          <a:ln/>
        </p:spPr>
        <p:txBody>
          <a:bodyPr wrap="square" lIns="25400" tIns="25400" rIns="25400" bIns="25400" rtlCol="0" anchor="t">
            <a:normAutofit fontScale="92500"/>
          </a:bodyPr>
          <a:lstStyle/>
          <a:p>
            <a:pPr marL="0" indent="0" algn="l">
              <a:lnSpc>
                <a:spcPct val="93867"/>
              </a:lnSpc>
              <a:buNone/>
            </a:pPr>
            <a:r>
              <a:rPr lang="en-US" sz="2400" b="1" kern="0" spc="-36" dirty="0">
                <a:solidFill>
                  <a:srgbClr val="0B5852"/>
                </a:solidFill>
                <a:latin typeface="Georgia" panose="02040502050405020303" pitchFamily="18" charset="0"/>
                <a:ea typeface="Barlow Condensed" pitchFamily="34" charset="-122"/>
                <a:cs typeface="Barlow Condensed" pitchFamily="34" charset="-120"/>
              </a:rPr>
              <a:t>TTS Speech Control</a:t>
            </a:r>
            <a:endParaRPr lang="en-US" sz="2400" b="1" dirty="0">
              <a:latin typeface="Georgia" panose="02040502050405020303" pitchFamily="18" charset="0"/>
            </a:endParaRPr>
          </a:p>
        </p:txBody>
      </p:sp>
      <p:grpSp>
        <p:nvGrpSpPr>
          <p:cNvPr id="41" name="Group 40">
            <a:extLst>
              <a:ext uri="{FF2B5EF4-FFF2-40B4-BE49-F238E27FC236}">
                <a16:creationId xmlns:a16="http://schemas.microsoft.com/office/drawing/2014/main" id="{285F5FC5-94D2-4555-AC18-0B1D58B2E9CA}"/>
              </a:ext>
            </a:extLst>
          </p:cNvPr>
          <p:cNvGrpSpPr/>
          <p:nvPr/>
        </p:nvGrpSpPr>
        <p:grpSpPr>
          <a:xfrm>
            <a:off x="6433190" y="1477800"/>
            <a:ext cx="1195151" cy="193301"/>
            <a:chOff x="6433190" y="1477800"/>
            <a:chExt cx="1195151" cy="193301"/>
          </a:xfrm>
        </p:grpSpPr>
        <p:sp>
          <p:nvSpPr>
            <p:cNvPr id="15" name="Shape 12"/>
            <p:cNvSpPr/>
            <p:nvPr/>
          </p:nvSpPr>
          <p:spPr>
            <a:xfrm>
              <a:off x="6433190" y="1493722"/>
              <a:ext cx="159870" cy="159870"/>
            </a:xfrm>
            <a:prstGeom prst="ellipse">
              <a:avLst/>
            </a:prstGeom>
            <a:solidFill>
              <a:srgbClr val="FFC000"/>
            </a:solidFill>
            <a:ln/>
          </p:spPr>
        </p:sp>
        <p:sp>
          <p:nvSpPr>
            <p:cNvPr id="16" name="Text 13"/>
            <p:cNvSpPr/>
            <p:nvPr/>
          </p:nvSpPr>
          <p:spPr>
            <a:xfrm>
              <a:off x="6685961" y="1477800"/>
              <a:ext cx="942380" cy="193301"/>
            </a:xfrm>
            <a:prstGeom prst="rect">
              <a:avLst/>
            </a:prstGeom>
            <a:noFill/>
            <a:ln/>
          </p:spPr>
          <p:txBody>
            <a:bodyPr wrap="square" lIns="0" tIns="0" rIns="0" bIns="0" rtlCol="0" anchor="t">
              <a:normAutofit fontScale="55000" lnSpcReduction="20000"/>
            </a:bodyPr>
            <a:lstStyle/>
            <a:p>
              <a:pPr marL="0" indent="0" algn="l">
                <a:lnSpc>
                  <a:spcPct val="132000"/>
                </a:lnSpc>
                <a:buNone/>
              </a:pPr>
              <a:r>
                <a:rPr lang="en-US" b="1" kern="0" spc="72" dirty="0">
                  <a:solidFill>
                    <a:schemeClr val="bg1">
                      <a:lumMod val="65000"/>
                    </a:schemeClr>
                  </a:solidFill>
                  <a:latin typeface="Cambria" panose="02040503050406030204" pitchFamily="18" charset="0"/>
                  <a:ea typeface="Cambria" panose="02040503050406030204" pitchFamily="18" charset="0"/>
                </a:rPr>
                <a:t>IN PROGRESS</a:t>
              </a:r>
              <a:endParaRPr lang="en-US" sz="1800" dirty="0">
                <a:solidFill>
                  <a:schemeClr val="bg1">
                    <a:lumMod val="65000"/>
                  </a:schemeClr>
                </a:solidFill>
                <a:latin typeface="Cambria" panose="02040503050406030204" pitchFamily="18" charset="0"/>
                <a:ea typeface="Cambria" panose="02040503050406030204" pitchFamily="18" charset="0"/>
              </a:endParaRPr>
            </a:p>
          </p:txBody>
        </p:sp>
      </p:grpSp>
      <p:sp>
        <p:nvSpPr>
          <p:cNvPr id="17" name="Text 14"/>
          <p:cNvSpPr/>
          <p:nvPr/>
        </p:nvSpPr>
        <p:spPr>
          <a:xfrm>
            <a:off x="6428428" y="2054640"/>
            <a:ext cx="5627489" cy="362816"/>
          </a:xfrm>
          <a:prstGeom prst="rect">
            <a:avLst/>
          </a:prstGeom>
          <a:noFill/>
          <a:ln/>
        </p:spPr>
        <p:txBody>
          <a:bodyPr wrap="square" lIns="25400" tIns="25400" rIns="25400" bIns="25400" rtlCol="0" anchor="t">
            <a:normAutofit/>
          </a:bodyPr>
          <a:lstStyle/>
          <a:p>
            <a:pPr marL="0" indent="0" algn="l">
              <a:lnSpc>
                <a:spcPct val="129345"/>
              </a:lnSpc>
              <a:buNone/>
            </a:pPr>
            <a:r>
              <a:rPr lang="en-US" sz="1600" b="1" kern="0" spc="116" dirty="0">
                <a:solidFill>
                  <a:srgbClr val="0B5852"/>
                </a:solidFill>
                <a:latin typeface="Georgia" panose="02040502050405020303" pitchFamily="18" charset="0"/>
                <a:ea typeface="Barlow Condensed" pitchFamily="34" charset="-122"/>
                <a:cs typeface="Barlow Condensed" pitchFamily="34" charset="-120"/>
              </a:rPr>
              <a:t>ACHIEVEMENT</a:t>
            </a:r>
            <a:endParaRPr lang="en-US" sz="1600" dirty="0">
              <a:solidFill>
                <a:srgbClr val="0B5852"/>
              </a:solidFill>
              <a:latin typeface="Georgia" panose="02040502050405020303" pitchFamily="18" charset="0"/>
            </a:endParaRPr>
          </a:p>
        </p:txBody>
      </p:sp>
      <p:sp>
        <p:nvSpPr>
          <p:cNvPr id="18" name="Text 15"/>
          <p:cNvSpPr/>
          <p:nvPr/>
        </p:nvSpPr>
        <p:spPr>
          <a:xfrm>
            <a:off x="6428428" y="2493548"/>
            <a:ext cx="5192098" cy="1138075"/>
          </a:xfrm>
          <a:prstGeom prst="rect">
            <a:avLst/>
          </a:prstGeom>
          <a:noFill/>
          <a:ln/>
        </p:spPr>
        <p:txBody>
          <a:bodyPr wrap="square" lIns="25400" tIns="25400" rIns="25400" bIns="25400" rtlCol="0" anchor="t">
            <a:normAutofit/>
          </a:bodyPr>
          <a:lstStyle/>
          <a:p>
            <a:pPr marL="342900" indent="-342900" algn="l">
              <a:lnSpc>
                <a:spcPct val="114853"/>
              </a:lnSpc>
              <a:buFont typeface="Arial" panose="020B0604020202020204" pitchFamily="34" charset="0"/>
              <a:buChar char="•"/>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Model adapts to NVV tags (e.g. [cough], [sigh])</a:t>
            </a:r>
            <a:endParaRPr lang="en-US" sz="1400" dirty="0">
              <a:solidFill>
                <a:schemeClr val="bg2">
                  <a:lumMod val="50000"/>
                </a:schemeClr>
              </a:solidFill>
              <a:latin typeface="Cambria" panose="02040503050406030204" pitchFamily="18" charset="0"/>
              <a:ea typeface="Cambria" panose="02040503050406030204" pitchFamily="18" charset="0"/>
            </a:endParaRPr>
          </a:p>
          <a:p>
            <a:pPr marL="342900" indent="-342900" algn="l">
              <a:lnSpc>
                <a:spcPct val="114853"/>
              </a:lnSpc>
              <a:buFont typeface="Arial" panose="020B0604020202020204" pitchFamily="34" charset="0"/>
              <a:buChar char="•"/>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Validated prosody control reliability across prompts</a:t>
            </a:r>
            <a:endParaRPr lang="en-US" sz="1400" dirty="0">
              <a:solidFill>
                <a:schemeClr val="bg2">
                  <a:lumMod val="50000"/>
                </a:schemeClr>
              </a:solidFill>
              <a:latin typeface="Cambria" panose="02040503050406030204" pitchFamily="18" charset="0"/>
              <a:ea typeface="Cambria" panose="02040503050406030204" pitchFamily="18" charset="0"/>
            </a:endParaRPr>
          </a:p>
        </p:txBody>
      </p:sp>
      <p:sp>
        <p:nvSpPr>
          <p:cNvPr id="19" name="Text 16"/>
          <p:cNvSpPr/>
          <p:nvPr/>
        </p:nvSpPr>
        <p:spPr>
          <a:xfrm>
            <a:off x="11720486" y="2054640"/>
            <a:ext cx="5794176" cy="362816"/>
          </a:xfrm>
          <a:prstGeom prst="rect">
            <a:avLst/>
          </a:prstGeom>
          <a:noFill/>
          <a:ln/>
        </p:spPr>
        <p:txBody>
          <a:bodyPr wrap="square" lIns="25400" tIns="25400" rIns="25400" bIns="25400" rtlCol="0" anchor="t">
            <a:normAutofit/>
          </a:bodyPr>
          <a:lstStyle/>
          <a:p>
            <a:pPr marL="0" indent="0" algn="l">
              <a:lnSpc>
                <a:spcPct val="129345"/>
              </a:lnSpc>
              <a:buNone/>
            </a:pPr>
            <a:r>
              <a:rPr lang="en-US" sz="1600" b="1" kern="0" spc="116" dirty="0">
                <a:solidFill>
                  <a:srgbClr val="0B5852"/>
                </a:solidFill>
                <a:latin typeface="Georgia" panose="02040502050405020303" pitchFamily="18" charset="0"/>
                <a:ea typeface="Barlow Condensed" pitchFamily="34" charset="-122"/>
                <a:cs typeface="Barlow Condensed" pitchFamily="34" charset="-120"/>
              </a:rPr>
              <a:t>NEXT STEP</a:t>
            </a:r>
            <a:endParaRPr lang="en-US" sz="1600" dirty="0">
              <a:solidFill>
                <a:srgbClr val="0B5852"/>
              </a:solidFill>
              <a:latin typeface="Georgia" panose="02040502050405020303" pitchFamily="18" charset="0"/>
            </a:endParaRPr>
          </a:p>
        </p:txBody>
      </p:sp>
      <p:sp>
        <p:nvSpPr>
          <p:cNvPr id="20" name="Text 17"/>
          <p:cNvSpPr/>
          <p:nvPr/>
        </p:nvSpPr>
        <p:spPr>
          <a:xfrm>
            <a:off x="11720485" y="2493548"/>
            <a:ext cx="5358786" cy="1138075"/>
          </a:xfrm>
          <a:prstGeom prst="rect">
            <a:avLst/>
          </a:prstGeom>
          <a:noFill/>
          <a:ln/>
        </p:spPr>
        <p:txBody>
          <a:bodyPr wrap="square" lIns="25400" tIns="25400" rIns="25400" bIns="25400" rtlCol="0" anchor="t">
            <a:normAutofit/>
          </a:bodyPr>
          <a:lstStyle/>
          <a:p>
            <a:pPr marL="342900" indent="-342900" algn="l">
              <a:lnSpc>
                <a:spcPct val="114853"/>
              </a:lnSpc>
              <a:buFont typeface="Arial" panose="020B0604020202020204" pitchFamily="34" charset="0"/>
              <a:buChar char="•"/>
            </a:pPr>
            <a:r>
              <a:rPr lang="en-US" sz="1600" dirty="0">
                <a:solidFill>
                  <a:schemeClr val="bg2">
                    <a:lumMod val="50000"/>
                  </a:schemeClr>
                </a:solidFill>
                <a:latin typeface="Cambria" panose="02040503050406030204" pitchFamily="18" charset="0"/>
                <a:ea typeface="Cambria" panose="02040503050406030204" pitchFamily="18" charset="0"/>
                <a:cs typeface="Barlow" pitchFamily="34" charset="-120"/>
              </a:rPr>
              <a:t>Fine-tune on larger NVV datasets, test generalization</a:t>
            </a:r>
            <a:endParaRPr lang="en-US" sz="1600" dirty="0">
              <a:solidFill>
                <a:schemeClr val="bg2">
                  <a:lumMod val="50000"/>
                </a:schemeClr>
              </a:solidFill>
              <a:latin typeface="Cambria" panose="02040503050406030204" pitchFamily="18" charset="0"/>
              <a:ea typeface="Cambria" panose="02040503050406030204" pitchFamily="18" charset="0"/>
            </a:endParaRPr>
          </a:p>
          <a:p>
            <a:pPr marL="342900" indent="-342900" algn="l">
              <a:lnSpc>
                <a:spcPct val="114853"/>
              </a:lnSpc>
              <a:buFont typeface="Arial" panose="020B0604020202020204" pitchFamily="34" charset="0"/>
              <a:buChar char="•"/>
            </a:pPr>
            <a:r>
              <a:rPr lang="en-US" sz="1600" dirty="0">
                <a:solidFill>
                  <a:schemeClr val="bg2">
                    <a:lumMod val="50000"/>
                  </a:schemeClr>
                </a:solidFill>
                <a:latin typeface="Cambria" panose="02040503050406030204" pitchFamily="18" charset="0"/>
                <a:ea typeface="Cambria" panose="02040503050406030204" pitchFamily="18" charset="0"/>
                <a:cs typeface="Barlow" pitchFamily="34" charset="-120"/>
              </a:rPr>
              <a:t>Propose reliable prosody prompts to Dev team</a:t>
            </a:r>
            <a:endParaRPr lang="en-US" sz="1600" dirty="0">
              <a:solidFill>
                <a:schemeClr val="bg2">
                  <a:lumMod val="50000"/>
                </a:schemeClr>
              </a:solidFill>
              <a:latin typeface="Cambria" panose="02040503050406030204" pitchFamily="18" charset="0"/>
              <a:ea typeface="Cambria" panose="02040503050406030204" pitchFamily="18" charset="0"/>
            </a:endParaRPr>
          </a:p>
        </p:txBody>
      </p:sp>
      <p:sp>
        <p:nvSpPr>
          <p:cNvPr id="21" name="Shape 18"/>
          <p:cNvSpPr/>
          <p:nvPr/>
        </p:nvSpPr>
        <p:spPr>
          <a:xfrm>
            <a:off x="6057846" y="4154469"/>
            <a:ext cx="11315808" cy="2730590"/>
          </a:xfrm>
          <a:prstGeom prst="rect">
            <a:avLst/>
          </a:prstGeom>
          <a:solidFill>
            <a:srgbClr val="F2EFE8"/>
          </a:solidFill>
          <a:ln w="8659">
            <a:solidFill>
              <a:srgbClr val="DED8C8"/>
            </a:solidFill>
            <a:prstDash val="solid"/>
          </a:ln>
        </p:spPr>
      </p:sp>
      <p:sp>
        <p:nvSpPr>
          <p:cNvPr id="22" name="Shape 19"/>
          <p:cNvSpPr/>
          <p:nvPr/>
        </p:nvSpPr>
        <p:spPr>
          <a:xfrm>
            <a:off x="6428428" y="5144176"/>
            <a:ext cx="10574644" cy="17318"/>
          </a:xfrm>
          <a:prstGeom prst="rect">
            <a:avLst/>
          </a:prstGeom>
          <a:solidFill>
            <a:srgbClr val="0F766E"/>
          </a:solidFill>
          <a:ln/>
        </p:spPr>
      </p:sp>
      <p:sp>
        <p:nvSpPr>
          <p:cNvPr id="23" name="Text 20"/>
          <p:cNvSpPr/>
          <p:nvPr/>
        </p:nvSpPr>
        <p:spPr>
          <a:xfrm>
            <a:off x="6428428" y="4339653"/>
            <a:ext cx="3386132" cy="446754"/>
          </a:xfrm>
          <a:prstGeom prst="rect">
            <a:avLst/>
          </a:prstGeom>
          <a:noFill/>
          <a:ln/>
        </p:spPr>
        <p:txBody>
          <a:bodyPr wrap="square" lIns="25400" tIns="25400" rIns="25400" bIns="25400" rtlCol="0" anchor="t">
            <a:noAutofit/>
          </a:bodyPr>
          <a:lstStyle/>
          <a:p>
            <a:pPr marL="0" indent="0" algn="l">
              <a:lnSpc>
                <a:spcPct val="93867"/>
              </a:lnSpc>
              <a:buNone/>
            </a:pPr>
            <a:r>
              <a:rPr lang="en-US" sz="2000" b="1" kern="0" spc="-36" dirty="0">
                <a:solidFill>
                  <a:srgbClr val="0B5852"/>
                </a:solidFill>
                <a:latin typeface="Georgia" panose="02040502050405020303" pitchFamily="18" charset="0"/>
                <a:ea typeface="Barlow Condensed" pitchFamily="34" charset="-122"/>
                <a:cs typeface="Barlow Condensed" pitchFamily="34" charset="-120"/>
              </a:rPr>
              <a:t>Diarization Performance</a:t>
            </a:r>
            <a:endParaRPr lang="en-US" sz="2000" dirty="0">
              <a:latin typeface="Georgia" panose="02040502050405020303" pitchFamily="18" charset="0"/>
            </a:endParaRPr>
          </a:p>
        </p:txBody>
      </p:sp>
      <p:sp>
        <p:nvSpPr>
          <p:cNvPr id="27" name="Text 24"/>
          <p:cNvSpPr/>
          <p:nvPr/>
        </p:nvSpPr>
        <p:spPr>
          <a:xfrm>
            <a:off x="6428428" y="5370936"/>
            <a:ext cx="5627489" cy="362816"/>
          </a:xfrm>
          <a:prstGeom prst="rect">
            <a:avLst/>
          </a:prstGeom>
          <a:noFill/>
          <a:ln/>
        </p:spPr>
        <p:txBody>
          <a:bodyPr wrap="square" lIns="25400" tIns="25400" rIns="25400" bIns="25400" rtlCol="0" anchor="t">
            <a:normAutofit/>
          </a:bodyPr>
          <a:lstStyle/>
          <a:p>
            <a:pPr marL="0" indent="0" algn="l">
              <a:lnSpc>
                <a:spcPct val="129345"/>
              </a:lnSpc>
              <a:buNone/>
            </a:pPr>
            <a:r>
              <a:rPr lang="en-US" sz="1400" b="1" kern="0" spc="116" dirty="0">
                <a:solidFill>
                  <a:srgbClr val="0B5852"/>
                </a:solidFill>
                <a:latin typeface="Georgia" panose="02040502050405020303" pitchFamily="18" charset="0"/>
                <a:ea typeface="Barlow Condensed" pitchFamily="34" charset="-122"/>
                <a:cs typeface="Barlow Condensed" pitchFamily="34" charset="-120"/>
              </a:rPr>
              <a:t>ACHIEVEMENT</a:t>
            </a:r>
            <a:endParaRPr lang="en-US" sz="1400" dirty="0">
              <a:solidFill>
                <a:srgbClr val="0B5852"/>
              </a:solidFill>
              <a:latin typeface="Georgia" panose="02040502050405020303" pitchFamily="18" charset="0"/>
            </a:endParaRPr>
          </a:p>
        </p:txBody>
      </p:sp>
      <p:sp>
        <p:nvSpPr>
          <p:cNvPr id="28" name="Text 25"/>
          <p:cNvSpPr/>
          <p:nvPr/>
        </p:nvSpPr>
        <p:spPr>
          <a:xfrm>
            <a:off x="6433190" y="5809844"/>
            <a:ext cx="5622727" cy="407194"/>
          </a:xfrm>
          <a:prstGeom prst="rect">
            <a:avLst/>
          </a:prstGeom>
          <a:noFill/>
          <a:ln/>
        </p:spPr>
        <p:txBody>
          <a:bodyPr wrap="square" lIns="25400" tIns="25400" rIns="25400" bIns="25400" rtlCol="0" anchor="t">
            <a:normAutofit/>
          </a:bodyPr>
          <a:lstStyle/>
          <a:p>
            <a:pPr marL="0" indent="0" algn="l">
              <a:lnSpc>
                <a:spcPct val="125368"/>
              </a:lnSpc>
              <a:buNone/>
            </a:pPr>
            <a:r>
              <a:rPr lang="en-US" sz="1400" dirty="0">
                <a:solidFill>
                  <a:srgbClr val="8C8C8A"/>
                </a:solidFill>
                <a:latin typeface="Cambria" panose="02040503050406030204" pitchFamily="18" charset="0"/>
                <a:ea typeface="Cambria" panose="02040503050406030204" pitchFamily="18" charset="0"/>
                <a:cs typeface="Barlow" pitchFamily="34" charset="-120"/>
              </a:rPr>
              <a:t>No update this week</a:t>
            </a:r>
            <a:endParaRPr lang="en-US" sz="1400" dirty="0">
              <a:latin typeface="Cambria" panose="02040503050406030204" pitchFamily="18" charset="0"/>
              <a:ea typeface="Cambria" panose="02040503050406030204" pitchFamily="18" charset="0"/>
            </a:endParaRPr>
          </a:p>
        </p:txBody>
      </p:sp>
      <p:sp>
        <p:nvSpPr>
          <p:cNvPr id="29" name="Text 26"/>
          <p:cNvSpPr/>
          <p:nvPr/>
        </p:nvSpPr>
        <p:spPr>
          <a:xfrm>
            <a:off x="11720486" y="5370936"/>
            <a:ext cx="5794175" cy="362816"/>
          </a:xfrm>
          <a:prstGeom prst="rect">
            <a:avLst/>
          </a:prstGeom>
          <a:noFill/>
          <a:ln/>
        </p:spPr>
        <p:txBody>
          <a:bodyPr wrap="square" lIns="25400" tIns="25400" rIns="25400" bIns="25400" rtlCol="0" anchor="t">
            <a:normAutofit/>
          </a:bodyPr>
          <a:lstStyle/>
          <a:p>
            <a:pPr marL="0" indent="0" algn="l">
              <a:lnSpc>
                <a:spcPct val="129345"/>
              </a:lnSpc>
              <a:buNone/>
            </a:pPr>
            <a:r>
              <a:rPr lang="en-US" sz="1400" b="1" kern="0" spc="116" dirty="0">
                <a:solidFill>
                  <a:srgbClr val="0B5852"/>
                </a:solidFill>
                <a:latin typeface="Georgia" panose="02040502050405020303" pitchFamily="18" charset="0"/>
                <a:ea typeface="Barlow Condensed" pitchFamily="34" charset="-122"/>
                <a:cs typeface="Barlow Condensed" pitchFamily="34" charset="-120"/>
              </a:rPr>
              <a:t>NEXT STEP</a:t>
            </a:r>
            <a:endParaRPr lang="en-US" sz="1400" dirty="0">
              <a:solidFill>
                <a:srgbClr val="0B5852"/>
              </a:solidFill>
              <a:latin typeface="Georgia" panose="02040502050405020303" pitchFamily="18" charset="0"/>
            </a:endParaRPr>
          </a:p>
        </p:txBody>
      </p:sp>
      <p:sp>
        <p:nvSpPr>
          <p:cNvPr id="30" name="Text 27"/>
          <p:cNvSpPr/>
          <p:nvPr/>
        </p:nvSpPr>
        <p:spPr>
          <a:xfrm>
            <a:off x="11720485" y="5809844"/>
            <a:ext cx="5358786" cy="799965"/>
          </a:xfrm>
          <a:prstGeom prst="rect">
            <a:avLst/>
          </a:prstGeom>
          <a:noFill/>
          <a:ln/>
        </p:spPr>
        <p:txBody>
          <a:bodyPr wrap="square" lIns="25400" tIns="25400" rIns="25400" bIns="25400" rtlCol="0" anchor="t">
            <a:normAutofit/>
          </a:bodyPr>
          <a:lstStyle/>
          <a:p>
            <a:pPr marL="342900" indent="-342900" algn="l">
              <a:lnSpc>
                <a:spcPct val="114853"/>
              </a:lnSpc>
              <a:buFont typeface="Arial" panose="020B0604020202020204" pitchFamily="34" charset="0"/>
              <a:buChar char="•"/>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Benchmark current diarization performance</a:t>
            </a:r>
            <a:endParaRPr lang="en-US" sz="1400" dirty="0">
              <a:solidFill>
                <a:schemeClr val="bg2">
                  <a:lumMod val="50000"/>
                </a:schemeClr>
              </a:solidFill>
              <a:latin typeface="Cambria" panose="02040503050406030204" pitchFamily="18" charset="0"/>
              <a:ea typeface="Cambria" panose="02040503050406030204" pitchFamily="18" charset="0"/>
            </a:endParaRPr>
          </a:p>
          <a:p>
            <a:pPr marL="342900" indent="-342900" algn="l">
              <a:lnSpc>
                <a:spcPct val="114853"/>
              </a:lnSpc>
              <a:buFont typeface="Arial" panose="020B0604020202020204" pitchFamily="34" charset="0"/>
              <a:buChar char="•"/>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Propose new model or fine-tune existing one</a:t>
            </a:r>
            <a:endParaRPr lang="en-US" sz="1400" dirty="0">
              <a:solidFill>
                <a:schemeClr val="bg2">
                  <a:lumMod val="50000"/>
                </a:schemeClr>
              </a:solidFill>
              <a:latin typeface="Cambria" panose="02040503050406030204" pitchFamily="18" charset="0"/>
              <a:ea typeface="Cambria" panose="02040503050406030204" pitchFamily="18" charset="0"/>
            </a:endParaRPr>
          </a:p>
        </p:txBody>
      </p:sp>
      <p:sp>
        <p:nvSpPr>
          <p:cNvPr id="31" name="Shape 28"/>
          <p:cNvSpPr/>
          <p:nvPr/>
        </p:nvSpPr>
        <p:spPr>
          <a:xfrm>
            <a:off x="6057846" y="7132655"/>
            <a:ext cx="11315808" cy="2337819"/>
          </a:xfrm>
          <a:prstGeom prst="rect">
            <a:avLst/>
          </a:prstGeom>
          <a:solidFill>
            <a:srgbClr val="F2EFE8"/>
          </a:solidFill>
          <a:ln w="8659">
            <a:solidFill>
              <a:srgbClr val="DED8C8"/>
            </a:solidFill>
            <a:prstDash val="solid"/>
          </a:ln>
        </p:spPr>
      </p:sp>
      <p:sp>
        <p:nvSpPr>
          <p:cNvPr id="32" name="Shape 29"/>
          <p:cNvSpPr/>
          <p:nvPr/>
        </p:nvSpPr>
        <p:spPr>
          <a:xfrm>
            <a:off x="6428428" y="8122362"/>
            <a:ext cx="10574644" cy="17318"/>
          </a:xfrm>
          <a:prstGeom prst="rect">
            <a:avLst/>
          </a:prstGeom>
          <a:solidFill>
            <a:srgbClr val="0F766E"/>
          </a:solidFill>
          <a:ln/>
        </p:spPr>
      </p:sp>
      <p:sp>
        <p:nvSpPr>
          <p:cNvPr id="33" name="Text 30"/>
          <p:cNvSpPr/>
          <p:nvPr/>
        </p:nvSpPr>
        <p:spPr>
          <a:xfrm>
            <a:off x="6428428" y="7305836"/>
            <a:ext cx="1603052" cy="421225"/>
          </a:xfrm>
          <a:prstGeom prst="rect">
            <a:avLst/>
          </a:prstGeom>
          <a:noFill/>
          <a:ln/>
        </p:spPr>
        <p:txBody>
          <a:bodyPr wrap="square" lIns="25400" tIns="25400" rIns="25400" bIns="25400" rtlCol="0" anchor="t">
            <a:noAutofit/>
          </a:bodyPr>
          <a:lstStyle/>
          <a:p>
            <a:pPr marL="0" indent="0" algn="l">
              <a:lnSpc>
                <a:spcPct val="93867"/>
              </a:lnSpc>
              <a:buNone/>
            </a:pPr>
            <a:r>
              <a:rPr lang="en-US" sz="2000" b="1" kern="0" spc="-36" dirty="0">
                <a:solidFill>
                  <a:srgbClr val="0B5852"/>
                </a:solidFill>
                <a:latin typeface="Georgia" panose="02040502050405020303" pitchFamily="18" charset="0"/>
                <a:ea typeface="Barlow Condensed" pitchFamily="34" charset="-122"/>
                <a:cs typeface="Barlow Condensed" pitchFamily="34" charset="-120"/>
              </a:rPr>
              <a:t>SmeanGPT</a:t>
            </a:r>
            <a:endParaRPr lang="en-US" sz="2000" dirty="0">
              <a:latin typeface="Georgia" panose="02040502050405020303" pitchFamily="18" charset="0"/>
            </a:endParaRPr>
          </a:p>
        </p:txBody>
      </p:sp>
      <p:sp>
        <p:nvSpPr>
          <p:cNvPr id="37" name="Text 34"/>
          <p:cNvSpPr/>
          <p:nvPr/>
        </p:nvSpPr>
        <p:spPr>
          <a:xfrm>
            <a:off x="6433189" y="8349122"/>
            <a:ext cx="5187337" cy="362816"/>
          </a:xfrm>
          <a:prstGeom prst="rect">
            <a:avLst/>
          </a:prstGeom>
          <a:noFill/>
          <a:ln/>
        </p:spPr>
        <p:txBody>
          <a:bodyPr wrap="square" lIns="25400" tIns="25400" rIns="25400" bIns="25400" rtlCol="0" anchor="t">
            <a:normAutofit/>
          </a:bodyPr>
          <a:lstStyle/>
          <a:p>
            <a:pPr marL="0" indent="0" algn="l">
              <a:lnSpc>
                <a:spcPct val="129345"/>
              </a:lnSpc>
              <a:buNone/>
            </a:pPr>
            <a:r>
              <a:rPr lang="en-US" sz="1400" b="1" kern="0" spc="116" dirty="0">
                <a:solidFill>
                  <a:srgbClr val="0B5852"/>
                </a:solidFill>
                <a:latin typeface="Georgia" panose="02040502050405020303" pitchFamily="18" charset="0"/>
                <a:ea typeface="Barlow Condensed" pitchFamily="34" charset="-122"/>
                <a:cs typeface="Barlow Condensed" pitchFamily="34" charset="-120"/>
              </a:rPr>
              <a:t>ACHIEVEMENT</a:t>
            </a:r>
            <a:endParaRPr lang="en-US" sz="1400" dirty="0">
              <a:solidFill>
                <a:srgbClr val="0B5852"/>
              </a:solidFill>
              <a:latin typeface="Georgia" panose="02040502050405020303" pitchFamily="18" charset="0"/>
            </a:endParaRPr>
          </a:p>
        </p:txBody>
      </p:sp>
      <p:sp>
        <p:nvSpPr>
          <p:cNvPr id="38" name="Text 35"/>
          <p:cNvSpPr/>
          <p:nvPr/>
        </p:nvSpPr>
        <p:spPr>
          <a:xfrm>
            <a:off x="6433190" y="8788030"/>
            <a:ext cx="5622727" cy="407194"/>
          </a:xfrm>
          <a:prstGeom prst="rect">
            <a:avLst/>
          </a:prstGeom>
          <a:noFill/>
          <a:ln/>
        </p:spPr>
        <p:txBody>
          <a:bodyPr wrap="square" lIns="25400" tIns="25400" rIns="25400" bIns="25400" rtlCol="0" anchor="t">
            <a:normAutofit/>
          </a:bodyPr>
          <a:lstStyle/>
          <a:p>
            <a:pPr marL="0" indent="0" algn="l">
              <a:lnSpc>
                <a:spcPct val="125368"/>
              </a:lnSpc>
              <a:buNone/>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No update this week</a:t>
            </a:r>
            <a:endParaRPr lang="en-US" sz="1400" dirty="0">
              <a:solidFill>
                <a:schemeClr val="bg2">
                  <a:lumMod val="50000"/>
                </a:schemeClr>
              </a:solidFill>
              <a:latin typeface="Cambria" panose="02040503050406030204" pitchFamily="18" charset="0"/>
              <a:ea typeface="Cambria" panose="02040503050406030204" pitchFamily="18" charset="0"/>
            </a:endParaRPr>
          </a:p>
        </p:txBody>
      </p:sp>
      <p:sp>
        <p:nvSpPr>
          <p:cNvPr id="39" name="Text 36"/>
          <p:cNvSpPr/>
          <p:nvPr/>
        </p:nvSpPr>
        <p:spPr>
          <a:xfrm>
            <a:off x="11720486" y="8349122"/>
            <a:ext cx="5794175" cy="362816"/>
          </a:xfrm>
          <a:prstGeom prst="rect">
            <a:avLst/>
          </a:prstGeom>
          <a:noFill/>
          <a:ln/>
        </p:spPr>
        <p:txBody>
          <a:bodyPr wrap="square" lIns="25400" tIns="25400" rIns="25400" bIns="25400" rtlCol="0" anchor="t">
            <a:normAutofit/>
          </a:bodyPr>
          <a:lstStyle/>
          <a:p>
            <a:pPr marL="0" indent="0" algn="l">
              <a:lnSpc>
                <a:spcPct val="129345"/>
              </a:lnSpc>
              <a:buNone/>
            </a:pPr>
            <a:r>
              <a:rPr lang="en-US" sz="1400" b="1" kern="0" spc="116" dirty="0">
                <a:solidFill>
                  <a:srgbClr val="0B5852"/>
                </a:solidFill>
                <a:latin typeface="Georgia" panose="02040502050405020303" pitchFamily="18" charset="0"/>
                <a:ea typeface="Barlow Condensed" pitchFamily="34" charset="-122"/>
                <a:cs typeface="Barlow Condensed" pitchFamily="34" charset="-120"/>
              </a:rPr>
              <a:t>NEXT STEP</a:t>
            </a:r>
            <a:endParaRPr lang="en-US" sz="1400" dirty="0">
              <a:solidFill>
                <a:srgbClr val="0B5852"/>
              </a:solidFill>
              <a:latin typeface="Georgia" panose="02040502050405020303" pitchFamily="18" charset="0"/>
            </a:endParaRPr>
          </a:p>
        </p:txBody>
      </p:sp>
      <p:sp>
        <p:nvSpPr>
          <p:cNvPr id="40" name="Text 37"/>
          <p:cNvSpPr/>
          <p:nvPr/>
        </p:nvSpPr>
        <p:spPr>
          <a:xfrm>
            <a:off x="11887172" y="8788030"/>
            <a:ext cx="5627489" cy="407194"/>
          </a:xfrm>
          <a:prstGeom prst="rect">
            <a:avLst/>
          </a:prstGeom>
          <a:noFill/>
          <a:ln/>
        </p:spPr>
        <p:txBody>
          <a:bodyPr wrap="square" lIns="25400" tIns="25400" rIns="25400" bIns="25400" rtlCol="0" anchor="t">
            <a:normAutofit/>
          </a:bodyPr>
          <a:lstStyle/>
          <a:p>
            <a:pPr marL="0" indent="0" algn="l">
              <a:lnSpc>
                <a:spcPct val="125368"/>
              </a:lnSpc>
              <a:buNone/>
            </a:pPr>
            <a:r>
              <a:rPr lang="en-US" sz="1400" dirty="0">
                <a:solidFill>
                  <a:schemeClr val="bg2">
                    <a:lumMod val="50000"/>
                  </a:schemeClr>
                </a:solidFill>
                <a:latin typeface="Cambria" panose="02040503050406030204" pitchFamily="18" charset="0"/>
                <a:ea typeface="Cambria" panose="02040503050406030204" pitchFamily="18" charset="0"/>
                <a:cs typeface="Barlow" pitchFamily="34" charset="-120"/>
              </a:rPr>
              <a:t>Not Decide</a:t>
            </a:r>
            <a:endParaRPr lang="en-US" sz="1400" dirty="0">
              <a:solidFill>
                <a:schemeClr val="bg2">
                  <a:lumMod val="50000"/>
                </a:schemeClr>
              </a:solidFill>
              <a:latin typeface="Cambria" panose="02040503050406030204" pitchFamily="18" charset="0"/>
              <a:ea typeface="Cambria" panose="02040503050406030204" pitchFamily="18" charset="0"/>
            </a:endParaRPr>
          </a:p>
        </p:txBody>
      </p:sp>
      <p:grpSp>
        <p:nvGrpSpPr>
          <p:cNvPr id="42" name="Group 41">
            <a:extLst>
              <a:ext uri="{FF2B5EF4-FFF2-40B4-BE49-F238E27FC236}">
                <a16:creationId xmlns:a16="http://schemas.microsoft.com/office/drawing/2014/main" id="{1F3F32D0-AD68-439A-8424-0E0E4915CB94}"/>
              </a:ext>
            </a:extLst>
          </p:cNvPr>
          <p:cNvGrpSpPr/>
          <p:nvPr/>
        </p:nvGrpSpPr>
        <p:grpSpPr>
          <a:xfrm>
            <a:off x="6433190" y="4846577"/>
            <a:ext cx="1195151" cy="193301"/>
            <a:chOff x="6433190" y="1477800"/>
            <a:chExt cx="1195151" cy="193301"/>
          </a:xfrm>
        </p:grpSpPr>
        <p:sp>
          <p:nvSpPr>
            <p:cNvPr id="43" name="Shape 12">
              <a:extLst>
                <a:ext uri="{FF2B5EF4-FFF2-40B4-BE49-F238E27FC236}">
                  <a16:creationId xmlns:a16="http://schemas.microsoft.com/office/drawing/2014/main" id="{9B59C52A-65CA-4760-8C61-1E42F9D3AD3B}"/>
                </a:ext>
              </a:extLst>
            </p:cNvPr>
            <p:cNvSpPr/>
            <p:nvPr/>
          </p:nvSpPr>
          <p:spPr>
            <a:xfrm>
              <a:off x="6433190" y="1493722"/>
              <a:ext cx="159870" cy="159870"/>
            </a:xfrm>
            <a:prstGeom prst="ellipse">
              <a:avLst/>
            </a:prstGeom>
            <a:solidFill>
              <a:schemeClr val="bg2">
                <a:lumMod val="50000"/>
              </a:schemeClr>
            </a:solidFill>
            <a:ln/>
          </p:spPr>
        </p:sp>
        <p:sp>
          <p:nvSpPr>
            <p:cNvPr id="44" name="Text 13">
              <a:extLst>
                <a:ext uri="{FF2B5EF4-FFF2-40B4-BE49-F238E27FC236}">
                  <a16:creationId xmlns:a16="http://schemas.microsoft.com/office/drawing/2014/main" id="{273A00C2-57C1-4F73-B2D2-4F19A6B7A9B2}"/>
                </a:ext>
              </a:extLst>
            </p:cNvPr>
            <p:cNvSpPr/>
            <p:nvPr/>
          </p:nvSpPr>
          <p:spPr>
            <a:xfrm>
              <a:off x="6685961" y="1477800"/>
              <a:ext cx="942380" cy="193301"/>
            </a:xfrm>
            <a:prstGeom prst="rect">
              <a:avLst/>
            </a:prstGeom>
            <a:noFill/>
            <a:ln/>
          </p:spPr>
          <p:txBody>
            <a:bodyPr wrap="square" lIns="0" tIns="0" rIns="0" bIns="0" rtlCol="0" anchor="t">
              <a:normAutofit/>
            </a:bodyPr>
            <a:lstStyle/>
            <a:p>
              <a:pPr marL="0" indent="0" algn="l">
                <a:lnSpc>
                  <a:spcPct val="132000"/>
                </a:lnSpc>
                <a:buNone/>
              </a:pPr>
              <a:r>
                <a:rPr lang="en-US" sz="1000" b="1" kern="0" spc="72" dirty="0">
                  <a:solidFill>
                    <a:schemeClr val="bg1">
                      <a:lumMod val="65000"/>
                    </a:schemeClr>
                  </a:solidFill>
                  <a:latin typeface="Cambria" panose="02040503050406030204" pitchFamily="18" charset="0"/>
                  <a:ea typeface="Cambria" panose="02040503050406030204" pitchFamily="18" charset="0"/>
                </a:rPr>
                <a:t>BACKLOG</a:t>
              </a:r>
              <a:endParaRPr lang="en-US" sz="1000" dirty="0">
                <a:solidFill>
                  <a:schemeClr val="bg1">
                    <a:lumMod val="65000"/>
                  </a:schemeClr>
                </a:solidFill>
                <a:latin typeface="Cambria" panose="02040503050406030204" pitchFamily="18" charset="0"/>
                <a:ea typeface="Cambria" panose="02040503050406030204" pitchFamily="18" charset="0"/>
              </a:endParaRPr>
            </a:p>
          </p:txBody>
        </p:sp>
      </p:grpSp>
      <p:grpSp>
        <p:nvGrpSpPr>
          <p:cNvPr id="45" name="Group 44">
            <a:extLst>
              <a:ext uri="{FF2B5EF4-FFF2-40B4-BE49-F238E27FC236}">
                <a16:creationId xmlns:a16="http://schemas.microsoft.com/office/drawing/2014/main" id="{41FFCCCA-2D89-49E9-A845-688A9B765AA5}"/>
              </a:ext>
            </a:extLst>
          </p:cNvPr>
          <p:cNvGrpSpPr/>
          <p:nvPr/>
        </p:nvGrpSpPr>
        <p:grpSpPr>
          <a:xfrm>
            <a:off x="6433190" y="7750461"/>
            <a:ext cx="1195151" cy="193301"/>
            <a:chOff x="6433190" y="1477800"/>
            <a:chExt cx="1195151" cy="193301"/>
          </a:xfrm>
        </p:grpSpPr>
        <p:sp>
          <p:nvSpPr>
            <p:cNvPr id="46" name="Shape 12">
              <a:extLst>
                <a:ext uri="{FF2B5EF4-FFF2-40B4-BE49-F238E27FC236}">
                  <a16:creationId xmlns:a16="http://schemas.microsoft.com/office/drawing/2014/main" id="{38C31E93-9902-4C5F-8F8D-B81358A935DE}"/>
                </a:ext>
              </a:extLst>
            </p:cNvPr>
            <p:cNvSpPr/>
            <p:nvPr/>
          </p:nvSpPr>
          <p:spPr>
            <a:xfrm>
              <a:off x="6433190" y="1493722"/>
              <a:ext cx="159870" cy="159870"/>
            </a:xfrm>
            <a:prstGeom prst="ellipse">
              <a:avLst/>
            </a:prstGeom>
            <a:solidFill>
              <a:schemeClr val="bg2">
                <a:lumMod val="50000"/>
              </a:schemeClr>
            </a:solidFill>
            <a:ln/>
          </p:spPr>
        </p:sp>
        <p:sp>
          <p:nvSpPr>
            <p:cNvPr id="47" name="Text 13">
              <a:extLst>
                <a:ext uri="{FF2B5EF4-FFF2-40B4-BE49-F238E27FC236}">
                  <a16:creationId xmlns:a16="http://schemas.microsoft.com/office/drawing/2014/main" id="{7E431139-32D1-492E-B6A6-5702A26FD0F2}"/>
                </a:ext>
              </a:extLst>
            </p:cNvPr>
            <p:cNvSpPr/>
            <p:nvPr/>
          </p:nvSpPr>
          <p:spPr>
            <a:xfrm>
              <a:off x="6685961" y="1477800"/>
              <a:ext cx="942380" cy="193301"/>
            </a:xfrm>
            <a:prstGeom prst="rect">
              <a:avLst/>
            </a:prstGeom>
            <a:noFill/>
            <a:ln/>
          </p:spPr>
          <p:txBody>
            <a:bodyPr wrap="square" lIns="0" tIns="0" rIns="0" bIns="0" rtlCol="0" anchor="t">
              <a:normAutofit/>
            </a:bodyPr>
            <a:lstStyle/>
            <a:p>
              <a:pPr marL="0" indent="0" algn="l">
                <a:lnSpc>
                  <a:spcPct val="132000"/>
                </a:lnSpc>
                <a:buNone/>
              </a:pPr>
              <a:r>
                <a:rPr lang="en-US" sz="1000" b="1" kern="0" spc="72" dirty="0">
                  <a:solidFill>
                    <a:schemeClr val="bg1">
                      <a:lumMod val="65000"/>
                    </a:schemeClr>
                  </a:solidFill>
                  <a:latin typeface="Cambria" panose="02040503050406030204" pitchFamily="18" charset="0"/>
                  <a:ea typeface="Cambria" panose="02040503050406030204" pitchFamily="18" charset="0"/>
                </a:rPr>
                <a:t>BACKLOG</a:t>
              </a:r>
              <a:endParaRPr lang="en-US" sz="1000" dirty="0">
                <a:solidFill>
                  <a:schemeClr val="bg1">
                    <a:lumMod val="65000"/>
                  </a:schemeClr>
                </a:solidFill>
                <a:latin typeface="Cambria" panose="02040503050406030204" pitchFamily="18" charset="0"/>
                <a:ea typeface="Cambria" panose="020405030504060302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5143500" cy="10287000"/>
          </a:xfrm>
          <a:prstGeom prst="rect">
            <a:avLst/>
          </a:prstGeom>
          <a:solidFill>
            <a:srgbClr val="083B37"/>
          </a:solidFill>
          <a:ln/>
        </p:spPr>
      </p:sp>
      <p:sp>
        <p:nvSpPr>
          <p:cNvPr id="6" name="Text 3"/>
          <p:cNvSpPr/>
          <p:nvPr/>
        </p:nvSpPr>
        <p:spPr>
          <a:xfrm>
            <a:off x="326794" y="2708324"/>
            <a:ext cx="4533981" cy="3209876"/>
          </a:xfrm>
          <a:prstGeom prst="rect">
            <a:avLst/>
          </a:prstGeom>
          <a:noFill/>
          <a:ln/>
        </p:spPr>
        <p:txBody>
          <a:bodyPr wrap="square" lIns="25400" tIns="25400" rIns="25400" bIns="25400" rtlCol="0" anchor="t">
            <a:noAutofit/>
          </a:bodyPr>
          <a:lstStyle/>
          <a:p>
            <a:pPr marL="0" indent="0" algn="l">
              <a:lnSpc>
                <a:spcPct val="90000"/>
              </a:lnSpc>
              <a:buNone/>
            </a:pPr>
            <a:r>
              <a:rPr lang="en-US" sz="7200" b="1" kern="0" spc="-56" dirty="0">
                <a:solidFill>
                  <a:srgbClr val="FAF8F4"/>
                </a:solidFill>
                <a:latin typeface="Georgia" panose="02040502050405020303" pitchFamily="18" charset="0"/>
                <a:ea typeface="Barlow Condensed" pitchFamily="34" charset="-122"/>
              </a:rPr>
              <a:t>TTS Speech Control</a:t>
            </a:r>
            <a:endParaRPr lang="en-US" sz="7200" dirty="0">
              <a:latin typeface="Georgia" panose="02040502050405020303" pitchFamily="18" charset="0"/>
            </a:endParaRPr>
          </a:p>
        </p:txBody>
      </p:sp>
      <p:sp>
        <p:nvSpPr>
          <p:cNvPr id="7" name="Text 4"/>
          <p:cNvSpPr/>
          <p:nvPr/>
        </p:nvSpPr>
        <p:spPr>
          <a:xfrm>
            <a:off x="326794" y="6327295"/>
            <a:ext cx="4533981" cy="772006"/>
          </a:xfrm>
          <a:prstGeom prst="rect">
            <a:avLst/>
          </a:prstGeom>
          <a:noFill/>
          <a:ln/>
        </p:spPr>
        <p:txBody>
          <a:bodyPr wrap="square" lIns="25400" tIns="25400" rIns="25400" bIns="25400" rtlCol="0" anchor="t">
            <a:normAutofit/>
          </a:bodyPr>
          <a:lstStyle/>
          <a:p>
            <a:pPr marL="0" indent="0">
              <a:buNone/>
            </a:pPr>
            <a:r>
              <a:rPr lang="en-US" dirty="0">
                <a:solidFill>
                  <a:srgbClr val="DBEAE9"/>
                </a:solidFill>
                <a:latin typeface="Cambria" panose="02040503050406030204" pitchFamily="18" charset="0"/>
                <a:ea typeface="Cambria" panose="02040503050406030204" pitchFamily="18" charset="0"/>
              </a:rPr>
              <a:t>Making Smean’s TTS sound more like human</a:t>
            </a:r>
            <a:endParaRPr lang="en-US" dirty="0">
              <a:latin typeface="Cambria" panose="02040503050406030204" pitchFamily="18" charset="0"/>
              <a:ea typeface="Cambria" panose="02040503050406030204" pitchFamily="18" charset="0"/>
            </a:endParaRPr>
          </a:p>
        </p:txBody>
      </p:sp>
      <p:grpSp>
        <p:nvGrpSpPr>
          <p:cNvPr id="3" name="Group 2">
            <a:extLst>
              <a:ext uri="{FF2B5EF4-FFF2-40B4-BE49-F238E27FC236}">
                <a16:creationId xmlns:a16="http://schemas.microsoft.com/office/drawing/2014/main" id="{CE41674B-3A28-4A10-BE8B-919C3E3A4D31}"/>
              </a:ext>
            </a:extLst>
          </p:cNvPr>
          <p:cNvGrpSpPr/>
          <p:nvPr/>
        </p:nvGrpSpPr>
        <p:grpSpPr>
          <a:xfrm>
            <a:off x="5550794" y="832167"/>
            <a:ext cx="9092485" cy="867471"/>
            <a:chOff x="5550794" y="437377"/>
            <a:chExt cx="9092485" cy="867471"/>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9092485"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cs typeface="Barlow Condensed" pitchFamily="34" charset="-120"/>
                </a:rPr>
                <a:t>What is Speech Control?</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1258232"/>
              <a:ext cx="7593708" cy="46616"/>
            </a:xfrm>
            <a:prstGeom prst="rect">
              <a:avLst/>
            </a:prstGeom>
            <a:solidFill>
              <a:srgbClr val="0B5852"/>
            </a:solidFill>
            <a:ln/>
          </p:spPr>
        </p:sp>
      </p:grpSp>
      <p:sp>
        <p:nvSpPr>
          <p:cNvPr id="49" name="Text 15">
            <a:extLst>
              <a:ext uri="{FF2B5EF4-FFF2-40B4-BE49-F238E27FC236}">
                <a16:creationId xmlns:a16="http://schemas.microsoft.com/office/drawing/2014/main" id="{C9E8AE17-32CC-44AB-B5E7-C3AC16950915}"/>
              </a:ext>
            </a:extLst>
          </p:cNvPr>
          <p:cNvSpPr/>
          <p:nvPr/>
        </p:nvSpPr>
        <p:spPr>
          <a:xfrm>
            <a:off x="5550794" y="1968091"/>
            <a:ext cx="11213206" cy="2350851"/>
          </a:xfrm>
          <a:prstGeom prst="rect">
            <a:avLst/>
          </a:prstGeom>
          <a:noFill/>
          <a:ln/>
        </p:spPr>
        <p:txBody>
          <a:bodyPr wrap="square" lIns="25400" tIns="25400" rIns="25400" bIns="25400" rtlCol="0" anchor="t">
            <a:normAutofit/>
          </a:bodyPr>
          <a:lstStyle/>
          <a:p>
            <a:pPr algn="l">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Speech control refer to </a:t>
            </a:r>
            <a:r>
              <a:rPr lang="en-US" sz="2000" b="1" dirty="0">
                <a:solidFill>
                  <a:schemeClr val="bg2">
                    <a:lumMod val="25000"/>
                  </a:schemeClr>
                </a:solidFill>
                <a:latin typeface="Cambria" panose="02040503050406030204" pitchFamily="18" charset="0"/>
                <a:ea typeface="Cambria" panose="02040503050406030204" pitchFamily="18" charset="0"/>
              </a:rPr>
              <a:t>three</a:t>
            </a:r>
            <a:r>
              <a:rPr lang="en-US" sz="2000" dirty="0">
                <a:solidFill>
                  <a:schemeClr val="bg2">
                    <a:lumMod val="25000"/>
                  </a:schemeClr>
                </a:solidFill>
                <a:latin typeface="Cambria" panose="02040503050406030204" pitchFamily="18" charset="0"/>
                <a:ea typeface="Cambria" panose="02040503050406030204" pitchFamily="18" charset="0"/>
              </a:rPr>
              <a:t> distinct capability of controlling speech: </a:t>
            </a:r>
            <a:r>
              <a:rPr lang="en-US" sz="2000" b="1" dirty="0">
                <a:solidFill>
                  <a:schemeClr val="bg2">
                    <a:lumMod val="25000"/>
                  </a:schemeClr>
                </a:solidFill>
                <a:latin typeface="Cambria" panose="02040503050406030204" pitchFamily="18" charset="0"/>
                <a:ea typeface="Cambria" panose="02040503050406030204" pitchFamily="18" charset="0"/>
              </a:rPr>
              <a:t>Prosody</a:t>
            </a:r>
            <a:r>
              <a:rPr lang="en-US" sz="2000" dirty="0">
                <a:solidFill>
                  <a:schemeClr val="bg2">
                    <a:lumMod val="25000"/>
                  </a:schemeClr>
                </a:solidFill>
                <a:latin typeface="Cambria" panose="02040503050406030204" pitchFamily="18" charset="0"/>
                <a:ea typeface="Cambria" panose="02040503050406030204" pitchFamily="18" charset="0"/>
              </a:rPr>
              <a:t>, </a:t>
            </a:r>
            <a:r>
              <a:rPr lang="en-US" sz="2000" b="1" dirty="0">
                <a:solidFill>
                  <a:schemeClr val="bg2">
                    <a:lumMod val="25000"/>
                  </a:schemeClr>
                </a:solidFill>
                <a:latin typeface="Cambria" panose="02040503050406030204" pitchFamily="18" charset="0"/>
                <a:ea typeface="Cambria" panose="02040503050406030204" pitchFamily="18" charset="0"/>
              </a:rPr>
              <a:t>Emotion</a:t>
            </a:r>
            <a:r>
              <a:rPr lang="en-US" sz="2000" dirty="0">
                <a:solidFill>
                  <a:schemeClr val="bg2">
                    <a:lumMod val="25000"/>
                  </a:schemeClr>
                </a:solidFill>
                <a:latin typeface="Cambria" panose="02040503050406030204" pitchFamily="18" charset="0"/>
                <a:ea typeface="Cambria" panose="02040503050406030204" pitchFamily="18" charset="0"/>
              </a:rPr>
              <a:t>, and </a:t>
            </a:r>
            <a:r>
              <a:rPr lang="en-US" sz="2000" b="1" dirty="0">
                <a:solidFill>
                  <a:schemeClr val="bg2">
                    <a:lumMod val="25000"/>
                  </a:schemeClr>
                </a:solidFill>
                <a:latin typeface="Cambria" panose="02040503050406030204" pitchFamily="18" charset="0"/>
                <a:ea typeface="Cambria" panose="02040503050406030204" pitchFamily="18" charset="0"/>
              </a:rPr>
              <a:t>Non-verbal Vocalization</a:t>
            </a:r>
            <a:r>
              <a:rPr lang="en-US" sz="2000" dirty="0">
                <a:solidFill>
                  <a:schemeClr val="bg2">
                    <a:lumMod val="25000"/>
                  </a:schemeClr>
                </a:solidFill>
                <a:latin typeface="Cambria" panose="02040503050406030204" pitchFamily="18" charset="0"/>
                <a:ea typeface="Cambria" panose="02040503050406030204" pitchFamily="18" charset="0"/>
              </a:rPr>
              <a:t>. </a:t>
            </a:r>
          </a:p>
          <a:p>
            <a:pPr algn="l">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l">
              <a:lnSpc>
                <a:spcPct val="114853"/>
              </a:lnSpc>
            </a:pPr>
            <a:r>
              <a:rPr lang="en-US" sz="2000" b="1" dirty="0">
                <a:solidFill>
                  <a:schemeClr val="bg2">
                    <a:lumMod val="25000"/>
                  </a:schemeClr>
                </a:solidFill>
                <a:latin typeface="Cambria" panose="02040503050406030204" pitchFamily="18" charset="0"/>
                <a:ea typeface="Cambria" panose="02040503050406030204" pitchFamily="18" charset="0"/>
              </a:rPr>
              <a:t>Prosody</a:t>
            </a:r>
            <a:r>
              <a:rPr lang="en-US" sz="2000" dirty="0">
                <a:solidFill>
                  <a:schemeClr val="bg2">
                    <a:lumMod val="25000"/>
                  </a:schemeClr>
                </a:solidFill>
                <a:latin typeface="Cambria" panose="02040503050406030204" pitchFamily="18" charset="0"/>
                <a:ea typeface="Cambria" panose="02040503050406030204" pitchFamily="18" charset="0"/>
              </a:rPr>
              <a:t> covers rates, pitch, loudness, and variation. </a:t>
            </a:r>
            <a:r>
              <a:rPr lang="en-US" sz="2000" b="1" dirty="0">
                <a:solidFill>
                  <a:schemeClr val="bg2">
                    <a:lumMod val="25000"/>
                  </a:schemeClr>
                </a:solidFill>
                <a:latin typeface="Cambria" panose="02040503050406030204" pitchFamily="18" charset="0"/>
                <a:ea typeface="Cambria" panose="02040503050406030204" pitchFamily="18" charset="0"/>
              </a:rPr>
              <a:t>Emotion</a:t>
            </a:r>
            <a:r>
              <a:rPr lang="en-US" sz="2000" dirty="0">
                <a:solidFill>
                  <a:schemeClr val="bg2">
                    <a:lumMod val="25000"/>
                  </a:schemeClr>
                </a:solidFill>
                <a:latin typeface="Cambria" panose="02040503050406030204" pitchFamily="18" charset="0"/>
                <a:ea typeface="Cambria" panose="02040503050406030204" pitchFamily="18" charset="0"/>
              </a:rPr>
              <a:t> is the state conveyed, by delivery such as, neutral, happy, sad or surprised. Emotion can be overlap with prosody variation. Lastly, </a:t>
            </a:r>
            <a:r>
              <a:rPr lang="en-US" sz="2000" b="1" dirty="0">
                <a:solidFill>
                  <a:schemeClr val="bg2">
                    <a:lumMod val="25000"/>
                  </a:schemeClr>
                </a:solidFill>
                <a:latin typeface="Cambria" panose="02040503050406030204" pitchFamily="18" charset="0"/>
                <a:ea typeface="Cambria" panose="02040503050406030204" pitchFamily="18" charset="0"/>
              </a:rPr>
              <a:t>Non-verbal Vocalization</a:t>
            </a:r>
            <a:r>
              <a:rPr lang="en-US" sz="2000" dirty="0">
                <a:solidFill>
                  <a:schemeClr val="bg2">
                    <a:lumMod val="25000"/>
                  </a:schemeClr>
                </a:solidFill>
                <a:latin typeface="Cambria" panose="02040503050406030204" pitchFamily="18" charset="0"/>
                <a:ea typeface="Cambria" panose="02040503050406030204" pitchFamily="18" charset="0"/>
              </a:rPr>
              <a:t>, which encompasses sound such as, ah, uhm, or an action like coughing, or laughing.</a:t>
            </a:r>
          </a:p>
          <a:p>
            <a:pPr algn="l">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l">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p:txBody>
      </p:sp>
      <p:grpSp>
        <p:nvGrpSpPr>
          <p:cNvPr id="50" name="Group 49">
            <a:extLst>
              <a:ext uri="{FF2B5EF4-FFF2-40B4-BE49-F238E27FC236}">
                <a16:creationId xmlns:a16="http://schemas.microsoft.com/office/drawing/2014/main" id="{6EA82C51-BB44-4B16-BA11-41915137BC5B}"/>
              </a:ext>
            </a:extLst>
          </p:cNvPr>
          <p:cNvGrpSpPr/>
          <p:nvPr/>
        </p:nvGrpSpPr>
        <p:grpSpPr>
          <a:xfrm>
            <a:off x="5550794" y="5584238"/>
            <a:ext cx="12258235" cy="867471"/>
            <a:chOff x="5550794" y="437377"/>
            <a:chExt cx="9092485" cy="867471"/>
          </a:xfrm>
        </p:grpSpPr>
        <p:sp>
          <p:nvSpPr>
            <p:cNvPr id="51" name="Text 10">
              <a:extLst>
                <a:ext uri="{FF2B5EF4-FFF2-40B4-BE49-F238E27FC236}">
                  <a16:creationId xmlns:a16="http://schemas.microsoft.com/office/drawing/2014/main" id="{8F0C4635-1AC1-41F9-9AE0-F81AC2CFB7EB}"/>
                </a:ext>
              </a:extLst>
            </p:cNvPr>
            <p:cNvSpPr/>
            <p:nvPr/>
          </p:nvSpPr>
          <p:spPr>
            <a:xfrm>
              <a:off x="5550794" y="437377"/>
              <a:ext cx="9092485"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cs typeface="Barlow Condensed" pitchFamily="34" charset="-120"/>
                </a:rPr>
                <a:t>Why do we need Speech Control?</a:t>
              </a:r>
              <a:endParaRPr lang="en-US" sz="4800" b="1" dirty="0">
                <a:latin typeface="Georgia" panose="02040502050405020303" pitchFamily="18" charset="0"/>
              </a:endParaRPr>
            </a:p>
          </p:txBody>
        </p:sp>
        <p:sp>
          <p:nvSpPr>
            <p:cNvPr id="52" name="Shape 1">
              <a:extLst>
                <a:ext uri="{FF2B5EF4-FFF2-40B4-BE49-F238E27FC236}">
                  <a16:creationId xmlns:a16="http://schemas.microsoft.com/office/drawing/2014/main" id="{7414F57E-8F6F-4F9B-988B-86FA635FC760}"/>
                </a:ext>
              </a:extLst>
            </p:cNvPr>
            <p:cNvSpPr/>
            <p:nvPr/>
          </p:nvSpPr>
          <p:spPr>
            <a:xfrm>
              <a:off x="5550794" y="1258232"/>
              <a:ext cx="7593708" cy="46616"/>
            </a:xfrm>
            <a:prstGeom prst="rect">
              <a:avLst/>
            </a:prstGeom>
            <a:solidFill>
              <a:srgbClr val="0B5852"/>
            </a:solidFill>
            <a:ln/>
          </p:spPr>
        </p:sp>
      </p:grpSp>
      <p:sp>
        <p:nvSpPr>
          <p:cNvPr id="53" name="Text 15">
            <a:extLst>
              <a:ext uri="{FF2B5EF4-FFF2-40B4-BE49-F238E27FC236}">
                <a16:creationId xmlns:a16="http://schemas.microsoft.com/office/drawing/2014/main" id="{E506F420-65EF-4712-AEA1-177935C198E3}"/>
              </a:ext>
            </a:extLst>
          </p:cNvPr>
          <p:cNvSpPr/>
          <p:nvPr/>
        </p:nvSpPr>
        <p:spPr>
          <a:xfrm>
            <a:off x="5550794" y="6841820"/>
            <a:ext cx="11213206" cy="2350851"/>
          </a:xfrm>
          <a:prstGeom prst="rect">
            <a:avLst/>
          </a:prstGeom>
          <a:noFill/>
          <a:ln/>
        </p:spPr>
        <p:txBody>
          <a:bodyPr wrap="square" lIns="25400" tIns="25400" rIns="25400" bIns="25400" rtlCol="0" anchor="t">
            <a:normAutofit/>
          </a:bodyPr>
          <a:lstStyle/>
          <a:p>
            <a:pPr algn="l">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Converting text into speech is one part of Smean TTS, but in order to convey those speech into a natural sounding tone, or embed intonation into those speech, we need control over those </a:t>
            </a:r>
            <a:r>
              <a:rPr lang="en-US" sz="2000" b="1" dirty="0">
                <a:solidFill>
                  <a:schemeClr val="bg2">
                    <a:lumMod val="25000"/>
                  </a:schemeClr>
                </a:solidFill>
                <a:latin typeface="Cambria" panose="02040503050406030204" pitchFamily="18" charset="0"/>
                <a:ea typeface="Cambria" panose="02040503050406030204" pitchFamily="18" charset="0"/>
              </a:rPr>
              <a:t>three</a:t>
            </a:r>
            <a:r>
              <a:rPr lang="en-US" sz="2000" dirty="0">
                <a:solidFill>
                  <a:schemeClr val="bg2">
                    <a:lumMod val="25000"/>
                  </a:schemeClr>
                </a:solidFill>
                <a:latin typeface="Cambria" panose="02040503050406030204" pitchFamily="18" charset="0"/>
                <a:ea typeface="Cambria" panose="02040503050406030204" pitchFamily="18" charset="0"/>
              </a:rPr>
              <a:t> distinct capability as mentioned above. </a:t>
            </a:r>
          </a:p>
          <a:p>
            <a:pPr algn="l">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l">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Hence this project will work toward enhancing speech control capability in Smean TTS.</a:t>
            </a:r>
          </a:p>
        </p:txBody>
      </p:sp>
    </p:spTree>
    <p:extLst>
      <p:ext uri="{BB962C8B-B14F-4D97-AF65-F5344CB8AC3E}">
        <p14:creationId xmlns:p14="http://schemas.microsoft.com/office/powerpoint/2010/main" val="672894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E41674B-3A28-4A10-BE8B-919C3E3A4D31}"/>
              </a:ext>
            </a:extLst>
          </p:cNvPr>
          <p:cNvGrpSpPr/>
          <p:nvPr/>
        </p:nvGrpSpPr>
        <p:grpSpPr>
          <a:xfrm>
            <a:off x="688508" y="832167"/>
            <a:ext cx="7468521" cy="867471"/>
            <a:chOff x="5550794" y="437377"/>
            <a:chExt cx="9092485" cy="867471"/>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9092485"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cs typeface="Barlow Condensed" pitchFamily="34" charset="-120"/>
                </a:rPr>
                <a:t>Current Smean TTS</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1258232"/>
              <a:ext cx="7593708" cy="46616"/>
            </a:xfrm>
            <a:prstGeom prst="rect">
              <a:avLst/>
            </a:prstGeom>
            <a:solidFill>
              <a:srgbClr val="0B5852"/>
            </a:solidFill>
            <a:ln/>
          </p:spPr>
        </p:sp>
      </p:grpSp>
      <p:sp>
        <p:nvSpPr>
          <p:cNvPr id="14" name="Text 15">
            <a:extLst>
              <a:ext uri="{FF2B5EF4-FFF2-40B4-BE49-F238E27FC236}">
                <a16:creationId xmlns:a16="http://schemas.microsoft.com/office/drawing/2014/main" id="{B8D43ECD-AECF-4931-84AA-1C37E6ACE5E7}"/>
              </a:ext>
            </a:extLst>
          </p:cNvPr>
          <p:cNvSpPr/>
          <p:nvPr/>
        </p:nvSpPr>
        <p:spPr>
          <a:xfrm>
            <a:off x="840908" y="8424647"/>
            <a:ext cx="7939792" cy="1188307"/>
          </a:xfrm>
          <a:prstGeom prst="rect">
            <a:avLst/>
          </a:prstGeom>
          <a:noFill/>
          <a:ln/>
        </p:spPr>
        <p:txBody>
          <a:bodyPr wrap="square" lIns="25400" tIns="25400" rIns="25400" bIns="25400" rtlCol="0" anchor="t">
            <a:normAutofit/>
          </a:bodyPr>
          <a:lstStyle/>
          <a:p>
            <a:r>
              <a:rPr lang="en-US" sz="1600" i="1" dirty="0">
                <a:solidFill>
                  <a:schemeClr val="bg2">
                    <a:lumMod val="75000"/>
                  </a:schemeClr>
                </a:solidFill>
                <a:latin typeface="Cambria" panose="02040503050406030204" pitchFamily="18" charset="0"/>
                <a:ea typeface="Cambria" panose="02040503050406030204" pitchFamily="18" charset="0"/>
              </a:rPr>
              <a:t>VoxCPM2 documented tags:</a:t>
            </a:r>
          </a:p>
          <a:p>
            <a:endParaRPr lang="en-US" sz="1600" i="1" dirty="0">
              <a:solidFill>
                <a:schemeClr val="bg2">
                  <a:lumMod val="75000"/>
                </a:schemeClr>
              </a:solidFill>
              <a:latin typeface="Cambria" panose="02040503050406030204" pitchFamily="18" charset="0"/>
              <a:ea typeface="Cambria" panose="02040503050406030204" pitchFamily="18" charset="0"/>
            </a:endParaRPr>
          </a:p>
          <a:p>
            <a:r>
              <a:rPr lang="en-US" sz="1600" i="1" dirty="0">
                <a:solidFill>
                  <a:schemeClr val="bg2">
                    <a:lumMod val="75000"/>
                  </a:schemeClr>
                </a:solidFill>
                <a:latin typeface="Cambria" panose="02040503050406030204" pitchFamily="18" charset="0"/>
                <a:ea typeface="Cambria" panose="02040503050406030204" pitchFamily="18" charset="0"/>
              </a:rPr>
              <a:t>[laughing]   [laughter]   [sigh]   [Uhm]   [Shh]   [Question-ah]   [Question-</a:t>
            </a:r>
            <a:r>
              <a:rPr lang="en-US" sz="1600" i="1" dirty="0" err="1">
                <a:solidFill>
                  <a:schemeClr val="bg2">
                    <a:lumMod val="75000"/>
                  </a:schemeClr>
                </a:solidFill>
                <a:latin typeface="Cambria" panose="02040503050406030204" pitchFamily="18" charset="0"/>
                <a:ea typeface="Cambria" panose="02040503050406030204" pitchFamily="18" charset="0"/>
              </a:rPr>
              <a:t>ei</a:t>
            </a:r>
            <a:r>
              <a:rPr lang="en-US" sz="1600" i="1" dirty="0">
                <a:solidFill>
                  <a:schemeClr val="bg2">
                    <a:lumMod val="75000"/>
                  </a:schemeClr>
                </a:solidFill>
                <a:latin typeface="Cambria" panose="02040503050406030204" pitchFamily="18" charset="0"/>
                <a:ea typeface="Cambria" panose="02040503050406030204" pitchFamily="18" charset="0"/>
              </a:rPr>
              <a:t>]   [Question-</a:t>
            </a:r>
            <a:r>
              <a:rPr lang="en-US" sz="1600" i="1" dirty="0" err="1">
                <a:solidFill>
                  <a:schemeClr val="bg2">
                    <a:lumMod val="75000"/>
                  </a:schemeClr>
                </a:solidFill>
                <a:latin typeface="Cambria" panose="02040503050406030204" pitchFamily="18" charset="0"/>
                <a:ea typeface="Cambria" panose="02040503050406030204" pitchFamily="18" charset="0"/>
              </a:rPr>
              <a:t>en</a:t>
            </a:r>
            <a:r>
              <a:rPr lang="en-US" sz="1600" i="1" dirty="0">
                <a:solidFill>
                  <a:schemeClr val="bg2">
                    <a:lumMod val="75000"/>
                  </a:schemeClr>
                </a:solidFill>
                <a:latin typeface="Cambria" panose="02040503050406030204" pitchFamily="18" charset="0"/>
                <a:ea typeface="Cambria" panose="02040503050406030204" pitchFamily="18" charset="0"/>
              </a:rPr>
              <a:t>]   [Question-oh]   [Surprise-</a:t>
            </a:r>
            <a:r>
              <a:rPr lang="en-US" sz="1600" i="1" dirty="0" err="1">
                <a:solidFill>
                  <a:schemeClr val="bg2">
                    <a:lumMod val="75000"/>
                  </a:schemeClr>
                </a:solidFill>
                <a:latin typeface="Cambria" panose="02040503050406030204" pitchFamily="18" charset="0"/>
                <a:ea typeface="Cambria" panose="02040503050406030204" pitchFamily="18" charset="0"/>
              </a:rPr>
              <a:t>wa</a:t>
            </a:r>
            <a:r>
              <a:rPr lang="en-US" sz="1600" i="1" dirty="0">
                <a:solidFill>
                  <a:schemeClr val="bg2">
                    <a:lumMod val="75000"/>
                  </a:schemeClr>
                </a:solidFill>
                <a:latin typeface="Cambria" panose="02040503050406030204" pitchFamily="18" charset="0"/>
                <a:ea typeface="Cambria" panose="02040503050406030204" pitchFamily="18" charset="0"/>
              </a:rPr>
              <a:t>]   [Surprise-</a:t>
            </a:r>
            <a:r>
              <a:rPr lang="en-US" sz="1600" i="1" dirty="0" err="1">
                <a:solidFill>
                  <a:schemeClr val="bg2">
                    <a:lumMod val="75000"/>
                  </a:schemeClr>
                </a:solidFill>
                <a:latin typeface="Cambria" panose="02040503050406030204" pitchFamily="18" charset="0"/>
                <a:ea typeface="Cambria" panose="02040503050406030204" pitchFamily="18" charset="0"/>
              </a:rPr>
              <a:t>yo</a:t>
            </a:r>
            <a:r>
              <a:rPr lang="en-US" sz="1600" i="1" dirty="0">
                <a:solidFill>
                  <a:schemeClr val="bg2">
                    <a:lumMod val="75000"/>
                  </a:schemeClr>
                </a:solidFill>
                <a:latin typeface="Cambria" panose="02040503050406030204" pitchFamily="18" charset="0"/>
                <a:ea typeface="Cambria" panose="02040503050406030204" pitchFamily="18" charset="0"/>
              </a:rPr>
              <a:t>]   [Dissatisfaction-</a:t>
            </a:r>
            <a:r>
              <a:rPr lang="en-US" sz="1600" i="1" dirty="0" err="1">
                <a:solidFill>
                  <a:schemeClr val="bg2">
                    <a:lumMod val="75000"/>
                  </a:schemeClr>
                </a:solidFill>
                <a:latin typeface="Cambria" panose="02040503050406030204" pitchFamily="18" charset="0"/>
                <a:ea typeface="Cambria" panose="02040503050406030204" pitchFamily="18" charset="0"/>
              </a:rPr>
              <a:t>hnn</a:t>
            </a:r>
            <a:r>
              <a:rPr lang="en-US" sz="1600" i="1" dirty="0">
                <a:solidFill>
                  <a:schemeClr val="bg2">
                    <a:lumMod val="75000"/>
                  </a:schemeClr>
                </a:solidFill>
                <a:latin typeface="Cambria" panose="02040503050406030204" pitchFamily="18" charset="0"/>
                <a:ea typeface="Cambria" panose="02040503050406030204" pitchFamily="18" charset="0"/>
              </a:rPr>
              <a:t>]</a:t>
            </a:r>
          </a:p>
        </p:txBody>
      </p:sp>
      <p:grpSp>
        <p:nvGrpSpPr>
          <p:cNvPr id="1039" name="Group 1038">
            <a:extLst>
              <a:ext uri="{FF2B5EF4-FFF2-40B4-BE49-F238E27FC236}">
                <a16:creationId xmlns:a16="http://schemas.microsoft.com/office/drawing/2014/main" id="{A17E3261-8FE9-48CE-8C7C-73316F2F37CC}"/>
              </a:ext>
            </a:extLst>
          </p:cNvPr>
          <p:cNvGrpSpPr/>
          <p:nvPr/>
        </p:nvGrpSpPr>
        <p:grpSpPr>
          <a:xfrm>
            <a:off x="9285668" y="1733968"/>
            <a:ext cx="8313824" cy="6819064"/>
            <a:chOff x="11539582" y="1968091"/>
            <a:chExt cx="6059910" cy="4970386"/>
          </a:xfrm>
        </p:grpSpPr>
        <p:sp>
          <p:nvSpPr>
            <p:cNvPr id="4" name="Rectangle: Rounded Corners 3">
              <a:extLst>
                <a:ext uri="{FF2B5EF4-FFF2-40B4-BE49-F238E27FC236}">
                  <a16:creationId xmlns:a16="http://schemas.microsoft.com/office/drawing/2014/main" id="{59522BBE-CFBF-44B7-B010-B5BCDEA96DA3}"/>
                </a:ext>
              </a:extLst>
            </p:cNvPr>
            <p:cNvSpPr/>
            <p:nvPr/>
          </p:nvSpPr>
          <p:spPr>
            <a:xfrm>
              <a:off x="13379979" y="3290137"/>
              <a:ext cx="2616200" cy="1405368"/>
            </a:xfrm>
            <a:prstGeom prst="roundRect">
              <a:avLst/>
            </a:prstGeom>
            <a:solidFill>
              <a:srgbClr val="0B5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VoxCPM2</a:t>
              </a:r>
            </a:p>
          </p:txBody>
        </p:sp>
        <p:sp>
          <p:nvSpPr>
            <p:cNvPr id="16" name="Text 15">
              <a:extLst>
                <a:ext uri="{FF2B5EF4-FFF2-40B4-BE49-F238E27FC236}">
                  <a16:creationId xmlns:a16="http://schemas.microsoft.com/office/drawing/2014/main" id="{0DD4FB39-2E53-4EF7-BB7D-0867E61A9675}"/>
                </a:ext>
              </a:extLst>
            </p:cNvPr>
            <p:cNvSpPr/>
            <p:nvPr/>
          </p:nvSpPr>
          <p:spPr>
            <a:xfrm>
              <a:off x="15582900" y="5535317"/>
              <a:ext cx="2016592" cy="504962"/>
            </a:xfrm>
            <a:prstGeom prst="rect">
              <a:avLst/>
            </a:prstGeom>
            <a:noFill/>
            <a:ln/>
          </p:spPr>
          <p:txBody>
            <a:bodyPr wrap="square" lIns="25400" tIns="25400" rIns="25400" bIns="25400" rtlCol="0" anchor="t">
              <a:normAutofit/>
            </a:bodyPr>
            <a:lstStyle/>
            <a:p>
              <a:pPr algn="just">
                <a:lnSpc>
                  <a:spcPct val="114853"/>
                </a:lnSpc>
              </a:pPr>
              <a:r>
                <a:rPr lang="en-US" sz="1600" dirty="0">
                  <a:solidFill>
                    <a:schemeClr val="bg2">
                      <a:lumMod val="25000"/>
                    </a:schemeClr>
                  </a:solidFill>
                  <a:latin typeface="Cambria" panose="02040503050406030204" pitchFamily="18" charset="0"/>
                  <a:ea typeface="Cambria" panose="02040503050406030204" pitchFamily="18" charset="0"/>
                </a:rPr>
                <a:t>The fox jump over the fence…</a:t>
              </a:r>
            </a:p>
          </p:txBody>
        </p:sp>
        <p:sp>
          <p:nvSpPr>
            <p:cNvPr id="17" name="Text 15">
              <a:extLst>
                <a:ext uri="{FF2B5EF4-FFF2-40B4-BE49-F238E27FC236}">
                  <a16:creationId xmlns:a16="http://schemas.microsoft.com/office/drawing/2014/main" id="{4CBD2806-F37E-4CBB-AEBB-48BBBB5C63F5}"/>
                </a:ext>
              </a:extLst>
            </p:cNvPr>
            <p:cNvSpPr/>
            <p:nvPr/>
          </p:nvSpPr>
          <p:spPr>
            <a:xfrm>
              <a:off x="11539582" y="5545472"/>
              <a:ext cx="2562483" cy="504962"/>
            </a:xfrm>
            <a:prstGeom prst="rect">
              <a:avLst/>
            </a:prstGeom>
            <a:noFill/>
            <a:ln/>
          </p:spPr>
          <p:txBody>
            <a:bodyPr wrap="square" lIns="25400" tIns="25400" rIns="25400" bIns="25400" rtlCol="0" anchor="t">
              <a:noAutofit/>
            </a:bodyPr>
            <a:lstStyle/>
            <a:p>
              <a:pPr algn="just">
                <a:lnSpc>
                  <a:spcPct val="114853"/>
                </a:lnSpc>
              </a:pPr>
              <a:r>
                <a:rPr lang="en-US" sz="1600" b="1" dirty="0">
                  <a:solidFill>
                    <a:schemeClr val="bg2">
                      <a:lumMod val="25000"/>
                    </a:schemeClr>
                  </a:solidFill>
                  <a:latin typeface="Cambria" panose="02040503050406030204" pitchFamily="18" charset="0"/>
                  <a:ea typeface="Cambria" panose="02040503050406030204" pitchFamily="18" charset="0"/>
                </a:rPr>
                <a:t>(</a:t>
              </a:r>
              <a:r>
                <a:rPr lang="en-US" altLang="en-US" sz="1600" b="1" dirty="0">
                  <a:solidFill>
                    <a:schemeClr val="bg2">
                      <a:lumMod val="25000"/>
                    </a:schemeClr>
                  </a:solidFill>
                  <a:latin typeface="Cambria" panose="02040503050406030204" pitchFamily="18" charset="0"/>
                  <a:ea typeface="Cambria" panose="02040503050406030204" pitchFamily="18" charset="0"/>
                </a:rPr>
                <a:t>Speaking slowly with a whispering, mysterious tone </a:t>
              </a:r>
              <a:r>
                <a:rPr lang="en-US" sz="1600" b="1" dirty="0">
                  <a:solidFill>
                    <a:schemeClr val="bg2">
                      <a:lumMod val="25000"/>
                    </a:schemeClr>
                  </a:solidFill>
                  <a:latin typeface="Cambria" panose="02040503050406030204" pitchFamily="18" charset="0"/>
                  <a:ea typeface="Cambria" panose="02040503050406030204" pitchFamily="18" charset="0"/>
                </a:rPr>
                <a:t>) </a:t>
              </a:r>
              <a:r>
                <a:rPr lang="en-US" sz="1600" dirty="0">
                  <a:solidFill>
                    <a:schemeClr val="bg2">
                      <a:lumMod val="25000"/>
                    </a:schemeClr>
                  </a:solidFill>
                  <a:latin typeface="Cambria" panose="02040503050406030204" pitchFamily="18" charset="0"/>
                  <a:ea typeface="Cambria" panose="02040503050406030204" pitchFamily="18" charset="0"/>
                </a:rPr>
                <a:t>The fox jump over the fence…</a:t>
              </a:r>
            </a:p>
          </p:txBody>
        </p:sp>
        <p:sp>
          <p:nvSpPr>
            <p:cNvPr id="21" name="Text 15">
              <a:extLst>
                <a:ext uri="{FF2B5EF4-FFF2-40B4-BE49-F238E27FC236}">
                  <a16:creationId xmlns:a16="http://schemas.microsoft.com/office/drawing/2014/main" id="{A68D7BD5-8B2B-41F3-96C1-890497AB4B1E}"/>
                </a:ext>
              </a:extLst>
            </p:cNvPr>
            <p:cNvSpPr/>
            <p:nvPr/>
          </p:nvSpPr>
          <p:spPr>
            <a:xfrm>
              <a:off x="13379980" y="6433515"/>
              <a:ext cx="2616200" cy="504962"/>
            </a:xfrm>
            <a:prstGeom prst="rect">
              <a:avLst/>
            </a:prstGeom>
            <a:noFill/>
            <a:ln/>
          </p:spPr>
          <p:txBody>
            <a:bodyPr wrap="square" lIns="25400" tIns="25400" rIns="25400" bIns="25400" rtlCol="0" anchor="t">
              <a:normAutofit/>
            </a:bodyPr>
            <a:lstStyle/>
            <a:p>
              <a:pPr algn="just">
                <a:lnSpc>
                  <a:spcPct val="114853"/>
                </a:lnSpc>
              </a:pPr>
              <a:r>
                <a:rPr lang="en-US" sz="1600" dirty="0">
                  <a:solidFill>
                    <a:schemeClr val="bg2">
                      <a:lumMod val="25000"/>
                    </a:schemeClr>
                  </a:solidFill>
                  <a:latin typeface="Cambria" panose="02040503050406030204" pitchFamily="18" charset="0"/>
                  <a:ea typeface="Cambria" panose="02040503050406030204" pitchFamily="18" charset="0"/>
                </a:rPr>
                <a:t>The fox jump </a:t>
              </a:r>
              <a:r>
                <a:rPr lang="en-US" sz="1600" b="1" dirty="0">
                  <a:solidFill>
                    <a:schemeClr val="bg2">
                      <a:lumMod val="25000"/>
                    </a:schemeClr>
                  </a:solidFill>
                  <a:latin typeface="Cambria" panose="02040503050406030204" pitchFamily="18" charset="0"/>
                  <a:ea typeface="Cambria" panose="02040503050406030204" pitchFamily="18" charset="0"/>
                </a:rPr>
                <a:t>[laughing] </a:t>
              </a:r>
              <a:r>
                <a:rPr lang="en-US" sz="1600" dirty="0">
                  <a:solidFill>
                    <a:schemeClr val="bg2">
                      <a:lumMod val="25000"/>
                    </a:schemeClr>
                  </a:solidFill>
                  <a:latin typeface="Cambria" panose="02040503050406030204" pitchFamily="18" charset="0"/>
                  <a:ea typeface="Cambria" panose="02040503050406030204" pitchFamily="18" charset="0"/>
                </a:rPr>
                <a:t>over the fence…</a:t>
              </a:r>
            </a:p>
          </p:txBody>
        </p:sp>
        <p:cxnSp>
          <p:nvCxnSpPr>
            <p:cNvPr id="15" name="Connector: Elbow 14">
              <a:extLst>
                <a:ext uri="{FF2B5EF4-FFF2-40B4-BE49-F238E27FC236}">
                  <a16:creationId xmlns:a16="http://schemas.microsoft.com/office/drawing/2014/main" id="{36295332-B834-4731-B42D-DE333D7803E1}"/>
                </a:ext>
              </a:extLst>
            </p:cNvPr>
            <p:cNvCxnSpPr>
              <a:cxnSpLocks/>
              <a:stCxn id="21" idx="0"/>
              <a:endCxn id="4" idx="2"/>
            </p:cNvCxnSpPr>
            <p:nvPr/>
          </p:nvCxnSpPr>
          <p:spPr>
            <a:xfrm rot="16200000" flipV="1">
              <a:off x="13819075" y="5564509"/>
              <a:ext cx="1738010" cy="1"/>
            </a:xfrm>
            <a:prstGeom prst="bentConnector3">
              <a:avLst>
                <a:gd name="adj1" fmla="val 50000"/>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1C10DD9D-D14F-45C6-AF63-C1913E5598A7}"/>
                </a:ext>
              </a:extLst>
            </p:cNvPr>
            <p:cNvCxnSpPr>
              <a:cxnSpLocks/>
              <a:stCxn id="16" idx="0"/>
              <a:endCxn id="4" idx="2"/>
            </p:cNvCxnSpPr>
            <p:nvPr/>
          </p:nvCxnSpPr>
          <p:spPr>
            <a:xfrm rot="16200000" flipV="1">
              <a:off x="15219732" y="4163852"/>
              <a:ext cx="839812" cy="1903117"/>
            </a:xfrm>
            <a:prstGeom prst="bentConnector3">
              <a:avLst>
                <a:gd name="adj1" fmla="val 50000"/>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0DFEBBEF-D177-4E2F-81C3-E92C5F796496}"/>
                </a:ext>
              </a:extLst>
            </p:cNvPr>
            <p:cNvCxnSpPr>
              <a:cxnSpLocks/>
              <a:stCxn id="17" idx="0"/>
              <a:endCxn id="4" idx="2"/>
            </p:cNvCxnSpPr>
            <p:nvPr/>
          </p:nvCxnSpPr>
          <p:spPr>
            <a:xfrm rot="5400000" flipH="1" flipV="1">
              <a:off x="13329468" y="4186862"/>
              <a:ext cx="849967" cy="1867255"/>
            </a:xfrm>
            <a:prstGeom prst="bentConnector3">
              <a:avLst>
                <a:gd name="adj1" fmla="val 50000"/>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7BB8CFD4-CF01-4214-8E43-EE911105E98B}"/>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1579560" y="3712043"/>
              <a:ext cx="1038258" cy="554711"/>
            </a:xfrm>
            <a:prstGeom prst="rect">
              <a:avLst/>
            </a:prstGeom>
          </p:spPr>
        </p:pic>
        <p:cxnSp>
          <p:nvCxnSpPr>
            <p:cNvPr id="1030" name="Straight Arrow Connector 1029">
              <a:extLst>
                <a:ext uri="{FF2B5EF4-FFF2-40B4-BE49-F238E27FC236}">
                  <a16:creationId xmlns:a16="http://schemas.microsoft.com/office/drawing/2014/main" id="{8E2D0634-79C0-49BE-9061-3F178FCCB6A7}"/>
                </a:ext>
              </a:extLst>
            </p:cNvPr>
            <p:cNvCxnSpPr>
              <a:cxnSpLocks/>
              <a:stCxn id="58" idx="3"/>
              <a:endCxn id="4" idx="1"/>
            </p:cNvCxnSpPr>
            <p:nvPr/>
          </p:nvCxnSpPr>
          <p:spPr>
            <a:xfrm>
              <a:off x="12617818" y="3989399"/>
              <a:ext cx="762161" cy="3422"/>
            </a:xfrm>
            <a:prstGeom prst="straightConnector1">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pic>
          <p:nvPicPr>
            <p:cNvPr id="74" name="Graphic 73">
              <a:extLst>
                <a:ext uri="{FF2B5EF4-FFF2-40B4-BE49-F238E27FC236}">
                  <a16:creationId xmlns:a16="http://schemas.microsoft.com/office/drawing/2014/main" id="{5D95AEFB-84DB-425D-BE9A-C7508D9BF559}"/>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4168950" y="1968091"/>
              <a:ext cx="1038258" cy="554711"/>
            </a:xfrm>
            <a:prstGeom prst="rect">
              <a:avLst/>
            </a:prstGeom>
          </p:spPr>
        </p:pic>
        <p:cxnSp>
          <p:nvCxnSpPr>
            <p:cNvPr id="75" name="Straight Arrow Connector 74">
              <a:extLst>
                <a:ext uri="{FF2B5EF4-FFF2-40B4-BE49-F238E27FC236}">
                  <a16:creationId xmlns:a16="http://schemas.microsoft.com/office/drawing/2014/main" id="{D7F6B49D-D52F-4688-B4F4-85E5B21B5D51}"/>
                </a:ext>
              </a:extLst>
            </p:cNvPr>
            <p:cNvCxnSpPr>
              <a:cxnSpLocks/>
              <a:stCxn id="4" idx="0"/>
              <a:endCxn id="74" idx="2"/>
            </p:cNvCxnSpPr>
            <p:nvPr/>
          </p:nvCxnSpPr>
          <p:spPr>
            <a:xfrm flipV="1">
              <a:off x="14688079" y="2522802"/>
              <a:ext cx="0" cy="767335"/>
            </a:xfrm>
            <a:prstGeom prst="straightConnector1">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sp>
          <p:nvSpPr>
            <p:cNvPr id="81" name="Text 15">
              <a:extLst>
                <a:ext uri="{FF2B5EF4-FFF2-40B4-BE49-F238E27FC236}">
                  <a16:creationId xmlns:a16="http://schemas.microsoft.com/office/drawing/2014/main" id="{492FDDD4-E334-4B26-A223-3D94AFB58D28}"/>
                </a:ext>
              </a:extLst>
            </p:cNvPr>
            <p:cNvSpPr/>
            <p:nvPr/>
          </p:nvSpPr>
          <p:spPr>
            <a:xfrm>
              <a:off x="14813009" y="2522802"/>
              <a:ext cx="653763" cy="283551"/>
            </a:xfrm>
            <a:prstGeom prst="rect">
              <a:avLst/>
            </a:prstGeom>
            <a:noFill/>
            <a:ln/>
          </p:spPr>
          <p:txBody>
            <a:bodyPr wrap="square" lIns="25400" tIns="25400" rIns="25400" bIns="25400" rtlCol="0" anchor="t">
              <a:noAutofit/>
            </a:bodyPr>
            <a:lstStyle/>
            <a:p>
              <a:pPr algn="just">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Output</a:t>
              </a:r>
            </a:p>
          </p:txBody>
        </p:sp>
        <p:sp>
          <p:nvSpPr>
            <p:cNvPr id="82" name="Text 15">
              <a:extLst>
                <a:ext uri="{FF2B5EF4-FFF2-40B4-BE49-F238E27FC236}">
                  <a16:creationId xmlns:a16="http://schemas.microsoft.com/office/drawing/2014/main" id="{6EA26DEF-FDAF-460F-ADFF-110C713DD1FB}"/>
                </a:ext>
              </a:extLst>
            </p:cNvPr>
            <p:cNvSpPr/>
            <p:nvPr/>
          </p:nvSpPr>
          <p:spPr>
            <a:xfrm>
              <a:off x="11964055" y="4276372"/>
              <a:ext cx="653763" cy="283551"/>
            </a:xfrm>
            <a:prstGeom prst="rect">
              <a:avLst/>
            </a:prstGeom>
            <a:noFill/>
            <a:ln/>
          </p:spPr>
          <p:txBody>
            <a:bodyPr wrap="square" lIns="25400" tIns="25400" rIns="25400" bIns="25400" rtlCol="0" anchor="t">
              <a:noAutofit/>
            </a:bodyPr>
            <a:lstStyle/>
            <a:p>
              <a:pPr algn="just">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Input</a:t>
              </a:r>
            </a:p>
          </p:txBody>
        </p:sp>
      </p:grpSp>
      <p:sp>
        <p:nvSpPr>
          <p:cNvPr id="84" name="Text 15">
            <a:extLst>
              <a:ext uri="{FF2B5EF4-FFF2-40B4-BE49-F238E27FC236}">
                <a16:creationId xmlns:a16="http://schemas.microsoft.com/office/drawing/2014/main" id="{72DAF89B-2C80-464F-8314-F4672583D38D}"/>
              </a:ext>
            </a:extLst>
          </p:cNvPr>
          <p:cNvSpPr/>
          <p:nvPr/>
        </p:nvSpPr>
        <p:spPr>
          <a:xfrm>
            <a:off x="12478966" y="8629786"/>
            <a:ext cx="2252491" cy="389015"/>
          </a:xfrm>
          <a:prstGeom prst="rect">
            <a:avLst/>
          </a:prstGeom>
          <a:noFill/>
          <a:ln/>
        </p:spPr>
        <p:txBody>
          <a:bodyPr wrap="square" lIns="25400" tIns="25400" rIns="25400" bIns="25400" rtlCol="0" anchor="t">
            <a:noAutofit/>
          </a:bodyPr>
          <a:lstStyle/>
          <a:p>
            <a:pPr algn="ctr">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Non-verbal Vocalization</a:t>
            </a:r>
          </a:p>
        </p:txBody>
      </p:sp>
      <p:sp>
        <p:nvSpPr>
          <p:cNvPr id="85" name="Text 15">
            <a:extLst>
              <a:ext uri="{FF2B5EF4-FFF2-40B4-BE49-F238E27FC236}">
                <a16:creationId xmlns:a16="http://schemas.microsoft.com/office/drawing/2014/main" id="{1A367781-7D1D-4F63-AEB6-1C94573AFB9B}"/>
              </a:ext>
            </a:extLst>
          </p:cNvPr>
          <p:cNvSpPr/>
          <p:nvPr/>
        </p:nvSpPr>
        <p:spPr>
          <a:xfrm>
            <a:off x="9868008" y="7471239"/>
            <a:ext cx="2252491" cy="389015"/>
          </a:xfrm>
          <a:prstGeom prst="rect">
            <a:avLst/>
          </a:prstGeom>
          <a:noFill/>
          <a:ln/>
        </p:spPr>
        <p:txBody>
          <a:bodyPr wrap="square" lIns="25400" tIns="25400" rIns="25400" bIns="25400" rtlCol="0" anchor="t">
            <a:noAutofit/>
          </a:bodyPr>
          <a:lstStyle/>
          <a:p>
            <a:pPr algn="ctr">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Voice design</a:t>
            </a:r>
          </a:p>
        </p:txBody>
      </p:sp>
      <p:sp>
        <p:nvSpPr>
          <p:cNvPr id="86" name="Text 15">
            <a:extLst>
              <a:ext uri="{FF2B5EF4-FFF2-40B4-BE49-F238E27FC236}">
                <a16:creationId xmlns:a16="http://schemas.microsoft.com/office/drawing/2014/main" id="{6EA4A20B-3C84-40B7-88C2-55DD9C23B061}"/>
              </a:ext>
            </a:extLst>
          </p:cNvPr>
          <p:cNvSpPr/>
          <p:nvPr/>
        </p:nvSpPr>
        <p:spPr>
          <a:xfrm>
            <a:off x="14948836" y="7471238"/>
            <a:ext cx="2252491" cy="389015"/>
          </a:xfrm>
          <a:prstGeom prst="rect">
            <a:avLst/>
          </a:prstGeom>
          <a:noFill/>
          <a:ln/>
        </p:spPr>
        <p:txBody>
          <a:bodyPr wrap="square" lIns="25400" tIns="25400" rIns="25400" bIns="25400" rtlCol="0" anchor="t">
            <a:noAutofit/>
          </a:bodyPr>
          <a:lstStyle/>
          <a:p>
            <a:pPr algn="ctr">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Plain</a:t>
            </a:r>
          </a:p>
        </p:txBody>
      </p:sp>
      <p:sp>
        <p:nvSpPr>
          <p:cNvPr id="87" name="Shape 0">
            <a:extLst>
              <a:ext uri="{FF2B5EF4-FFF2-40B4-BE49-F238E27FC236}">
                <a16:creationId xmlns:a16="http://schemas.microsoft.com/office/drawing/2014/main" id="{D0E0CC4D-0857-4350-BEF7-5F0684DE29AA}"/>
              </a:ext>
            </a:extLst>
          </p:cNvPr>
          <p:cNvSpPr/>
          <p:nvPr/>
        </p:nvSpPr>
        <p:spPr>
          <a:xfrm>
            <a:off x="0" y="9897984"/>
            <a:ext cx="18288000" cy="389016"/>
          </a:xfrm>
          <a:prstGeom prst="rect">
            <a:avLst/>
          </a:prstGeom>
          <a:solidFill>
            <a:srgbClr val="083B37"/>
          </a:solidFill>
          <a:ln/>
        </p:spPr>
      </p:sp>
      <p:sp>
        <p:nvSpPr>
          <p:cNvPr id="88" name="Text 15">
            <a:extLst>
              <a:ext uri="{FF2B5EF4-FFF2-40B4-BE49-F238E27FC236}">
                <a16:creationId xmlns:a16="http://schemas.microsoft.com/office/drawing/2014/main" id="{39E28FF8-2A33-44DA-9A9E-F52A3A512C20}"/>
              </a:ext>
            </a:extLst>
          </p:cNvPr>
          <p:cNvSpPr/>
          <p:nvPr/>
        </p:nvSpPr>
        <p:spPr>
          <a:xfrm>
            <a:off x="840908" y="2120491"/>
            <a:ext cx="7939792" cy="6304156"/>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Smean currently uses </a:t>
            </a:r>
            <a:r>
              <a:rPr lang="en-US" sz="2000" b="1" dirty="0">
                <a:solidFill>
                  <a:schemeClr val="bg2">
                    <a:lumMod val="25000"/>
                  </a:schemeClr>
                </a:solidFill>
                <a:latin typeface="Cambria" panose="02040503050406030204" pitchFamily="18" charset="0"/>
                <a:ea typeface="Cambria" panose="02040503050406030204" pitchFamily="18" charset="0"/>
              </a:rPr>
              <a:t>VoxCPM2</a:t>
            </a:r>
            <a:r>
              <a:rPr lang="en-US" sz="2000" dirty="0">
                <a:solidFill>
                  <a:schemeClr val="bg2">
                    <a:lumMod val="25000"/>
                  </a:schemeClr>
                </a:solidFill>
                <a:latin typeface="Cambria" panose="02040503050406030204" pitchFamily="18" charset="0"/>
                <a:ea typeface="Cambria" panose="02040503050406030204" pitchFamily="18" charset="0"/>
              </a:rPr>
              <a:t> as a base model. VoxCPM2 is trained on over </a:t>
            </a:r>
            <a:r>
              <a:rPr lang="en-US" sz="2000" b="1" dirty="0">
                <a:solidFill>
                  <a:schemeClr val="bg2">
                    <a:lumMod val="25000"/>
                  </a:schemeClr>
                </a:solidFill>
                <a:latin typeface="Cambria" panose="02040503050406030204" pitchFamily="18" charset="0"/>
                <a:ea typeface="Cambria" panose="02040503050406030204" pitchFamily="18" charset="0"/>
              </a:rPr>
              <a:t>1.8M hours </a:t>
            </a:r>
            <a:r>
              <a:rPr lang="en-US" sz="2000" dirty="0">
                <a:solidFill>
                  <a:schemeClr val="bg2">
                    <a:lumMod val="25000"/>
                  </a:schemeClr>
                </a:solidFill>
                <a:latin typeface="Cambria" panose="02040503050406030204" pitchFamily="18" charset="0"/>
                <a:ea typeface="Cambria" panose="02040503050406030204" pitchFamily="18" charset="0"/>
              </a:rPr>
              <a:t>of audio scraped from the internet. It includes capability such as, </a:t>
            </a:r>
            <a:r>
              <a:rPr lang="en-US" sz="2000" b="1" dirty="0">
                <a:solidFill>
                  <a:schemeClr val="bg2">
                    <a:lumMod val="25000"/>
                  </a:schemeClr>
                </a:solidFill>
                <a:latin typeface="Cambria" panose="02040503050406030204" pitchFamily="18" charset="0"/>
                <a:ea typeface="Cambria" panose="02040503050406030204" pitchFamily="18" charset="0"/>
              </a:rPr>
              <a:t>language switching</a:t>
            </a:r>
            <a:r>
              <a:rPr lang="en-US" sz="2000" dirty="0">
                <a:solidFill>
                  <a:schemeClr val="bg2">
                    <a:lumMod val="25000"/>
                  </a:schemeClr>
                </a:solidFill>
                <a:latin typeface="Cambria" panose="02040503050406030204" pitchFamily="18" charset="0"/>
                <a:ea typeface="Cambria" panose="02040503050406030204" pitchFamily="18" charset="0"/>
              </a:rPr>
              <a:t>, </a:t>
            </a:r>
            <a:r>
              <a:rPr lang="en-US" sz="2000" b="1" dirty="0">
                <a:solidFill>
                  <a:schemeClr val="bg2">
                    <a:lumMod val="25000"/>
                  </a:schemeClr>
                </a:solidFill>
                <a:latin typeface="Cambria" panose="02040503050406030204" pitchFamily="18" charset="0"/>
                <a:ea typeface="Cambria" panose="02040503050406030204" pitchFamily="18" charset="0"/>
              </a:rPr>
              <a:t>non-verbal tagging</a:t>
            </a:r>
            <a:r>
              <a:rPr lang="en-US" sz="2000" dirty="0">
                <a:solidFill>
                  <a:schemeClr val="bg2">
                    <a:lumMod val="25000"/>
                  </a:schemeClr>
                </a:solidFill>
                <a:latin typeface="Cambria" panose="02040503050406030204" pitchFamily="18" charset="0"/>
                <a:ea typeface="Cambria" panose="02040503050406030204" pitchFamily="18" charset="0"/>
              </a:rPr>
              <a:t>, </a:t>
            </a:r>
            <a:r>
              <a:rPr lang="en-US" sz="2000" b="1" dirty="0">
                <a:solidFill>
                  <a:schemeClr val="bg2">
                    <a:lumMod val="25000"/>
                  </a:schemeClr>
                </a:solidFill>
                <a:latin typeface="Cambria" panose="02040503050406030204" pitchFamily="18" charset="0"/>
                <a:ea typeface="Cambria" panose="02040503050406030204" pitchFamily="18" charset="0"/>
              </a:rPr>
              <a:t>voice design</a:t>
            </a:r>
            <a:r>
              <a:rPr lang="en-US" sz="2000" dirty="0">
                <a:solidFill>
                  <a:schemeClr val="bg2">
                    <a:lumMod val="25000"/>
                  </a:schemeClr>
                </a:solidFill>
                <a:latin typeface="Cambria" panose="02040503050406030204" pitchFamily="18" charset="0"/>
                <a:ea typeface="Cambria" panose="02040503050406030204" pitchFamily="18" charset="0"/>
              </a:rPr>
              <a:t>, and </a:t>
            </a:r>
            <a:r>
              <a:rPr lang="en-US" sz="2000" b="1" dirty="0">
                <a:solidFill>
                  <a:schemeClr val="bg2">
                    <a:lumMod val="25000"/>
                  </a:schemeClr>
                </a:solidFill>
                <a:latin typeface="Cambria" panose="02040503050406030204" pitchFamily="18" charset="0"/>
                <a:ea typeface="Cambria" panose="02040503050406030204" pitchFamily="18" charset="0"/>
              </a:rPr>
              <a:t>voice cloning</a:t>
            </a:r>
            <a:r>
              <a:rPr lang="en-US" sz="2000" dirty="0">
                <a:solidFill>
                  <a:schemeClr val="bg2">
                    <a:lumMod val="25000"/>
                  </a:schemeClr>
                </a:solidFill>
                <a:latin typeface="Cambria" panose="02040503050406030204" pitchFamily="18" charset="0"/>
                <a:ea typeface="Cambria" panose="02040503050406030204" pitchFamily="18" charset="0"/>
              </a:rPr>
              <a:t>.</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Since VoxCPM2 is </a:t>
            </a:r>
            <a:r>
              <a:rPr lang="en-US" sz="2000" b="1" dirty="0">
                <a:solidFill>
                  <a:schemeClr val="bg2">
                    <a:lumMod val="25000"/>
                  </a:schemeClr>
                </a:solidFill>
                <a:latin typeface="Cambria" panose="02040503050406030204" pitchFamily="18" charset="0"/>
                <a:ea typeface="Cambria" panose="02040503050406030204" pitchFamily="18" charset="0"/>
              </a:rPr>
              <a:t>not conditionally </a:t>
            </a:r>
            <a:r>
              <a:rPr lang="en-US" sz="2000" dirty="0">
                <a:solidFill>
                  <a:schemeClr val="bg2">
                    <a:lumMod val="25000"/>
                  </a:schemeClr>
                </a:solidFill>
                <a:latin typeface="Cambria" panose="02040503050406030204" pitchFamily="18" charset="0"/>
                <a:ea typeface="Cambria" panose="02040503050406030204" pitchFamily="18" charset="0"/>
              </a:rPr>
              <a:t>trained on </a:t>
            </a:r>
            <a:r>
              <a:rPr lang="en-US" sz="2000" b="1" dirty="0">
                <a:solidFill>
                  <a:schemeClr val="bg2">
                    <a:lumMod val="25000"/>
                  </a:schemeClr>
                </a:solidFill>
                <a:latin typeface="Cambria" panose="02040503050406030204" pitchFamily="18" charset="0"/>
                <a:ea typeface="Cambria" panose="02040503050406030204" pitchFamily="18" charset="0"/>
              </a:rPr>
              <a:t>non-verbal tags</a:t>
            </a:r>
            <a:r>
              <a:rPr lang="en-US" sz="2000" dirty="0">
                <a:solidFill>
                  <a:schemeClr val="bg2">
                    <a:lumMod val="25000"/>
                  </a:schemeClr>
                </a:solidFill>
                <a:latin typeface="Cambria" panose="02040503050406030204" pitchFamily="18" charset="0"/>
                <a:ea typeface="Cambria" panose="02040503050406030204" pitchFamily="18" charset="0"/>
              </a:rPr>
              <a:t>, it cannot reliably and consistently produce those sound. There are currently 11 </a:t>
            </a:r>
            <a:r>
              <a:rPr lang="en-US" sz="2000" dirty="0">
                <a:solidFill>
                  <a:schemeClr val="bg2">
                    <a:lumMod val="25000"/>
                  </a:schemeClr>
                </a:solidFill>
                <a:latin typeface="Cambria" panose="02040503050406030204" pitchFamily="18" charset="0"/>
                <a:ea typeface="Cambria" panose="02040503050406030204" pitchFamily="18" charset="0"/>
                <a:hlinkClick r:id="rId6"/>
              </a:rPr>
              <a:t>documented tags</a:t>
            </a:r>
            <a:r>
              <a:rPr lang="en-US" sz="2000" dirty="0">
                <a:solidFill>
                  <a:schemeClr val="bg2">
                    <a:lumMod val="25000"/>
                  </a:schemeClr>
                </a:solidFill>
                <a:latin typeface="Cambria" panose="02040503050406030204" pitchFamily="18" charset="0"/>
                <a:ea typeface="Cambria" panose="02040503050406030204" pitchFamily="18" charset="0"/>
              </a:rPr>
              <a:t>, but VoxCPM2 is not limited to only those tags, there may be more tags out there that VoxCPM2 can operate on, but not just as consistently.</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Aside from non-verbal tags, VoxCPM2’s </a:t>
            </a:r>
            <a:r>
              <a:rPr lang="en-US" sz="2000" b="1" dirty="0">
                <a:solidFill>
                  <a:schemeClr val="bg2">
                    <a:lumMod val="25000"/>
                  </a:schemeClr>
                </a:solidFill>
                <a:latin typeface="Cambria" panose="02040503050406030204" pitchFamily="18" charset="0"/>
                <a:ea typeface="Cambria" panose="02040503050406030204" pitchFamily="18" charset="0"/>
              </a:rPr>
              <a:t>prosody</a:t>
            </a:r>
            <a:r>
              <a:rPr lang="en-US" sz="2000" dirty="0">
                <a:solidFill>
                  <a:schemeClr val="bg2">
                    <a:lumMod val="25000"/>
                  </a:schemeClr>
                </a:solidFill>
                <a:latin typeface="Cambria" panose="02040503050406030204" pitchFamily="18" charset="0"/>
                <a:ea typeface="Cambria" panose="02040503050406030204" pitchFamily="18" charset="0"/>
              </a:rPr>
              <a:t> setting can be reliably controlled through prompt, using the “parenthesis function”. For example, we can control the speaker’s pitch through the usage of </a:t>
            </a:r>
            <a:r>
              <a:rPr lang="en-US" sz="2000" i="1" dirty="0">
                <a:latin typeface="Cambria" panose="02040503050406030204" pitchFamily="18" charset="0"/>
                <a:ea typeface="Cambria" panose="02040503050406030204" pitchFamily="18" charset="0"/>
              </a:rPr>
              <a:t>(a high-pitched voice), </a:t>
            </a:r>
            <a:r>
              <a:rPr lang="en-US" sz="2000" dirty="0">
                <a:latin typeface="Cambria" panose="02040503050406030204" pitchFamily="18" charset="0"/>
                <a:ea typeface="Cambria" panose="02040503050406030204" pitchFamily="18" charset="0"/>
              </a:rPr>
              <a:t>speaking rate using </a:t>
            </a:r>
            <a:r>
              <a:rPr lang="en-US" sz="2000" i="1" dirty="0">
                <a:latin typeface="Cambria" panose="02040503050406030204" pitchFamily="18" charset="0"/>
                <a:ea typeface="Cambria" panose="02040503050406030204" pitchFamily="18" charset="0"/>
              </a:rPr>
              <a:t>(speaking quickly). </a:t>
            </a:r>
            <a:r>
              <a:rPr lang="en-US" sz="2000" dirty="0">
                <a:latin typeface="Cambria" panose="02040503050406030204" pitchFamily="18" charset="0"/>
                <a:ea typeface="Cambria" panose="02040503050406030204" pitchFamily="18" charset="0"/>
              </a:rPr>
              <a:t>We just have to find the right prompt that can consistently control the model’s prosody.</a:t>
            </a: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51227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E41674B-3A28-4A10-BE8B-919C3E3A4D31}"/>
              </a:ext>
            </a:extLst>
          </p:cNvPr>
          <p:cNvGrpSpPr/>
          <p:nvPr/>
        </p:nvGrpSpPr>
        <p:grpSpPr>
          <a:xfrm>
            <a:off x="688509" y="832167"/>
            <a:ext cx="9152178" cy="1649849"/>
            <a:chOff x="5550794" y="437377"/>
            <a:chExt cx="9092485" cy="1649849"/>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9092485"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cs typeface="Barlow Condensed" pitchFamily="34" charset="-120"/>
                </a:rPr>
                <a:t>Can Smean TTS Be Taught to Conditioned on Tags?</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2032472"/>
              <a:ext cx="8919448" cy="54754"/>
            </a:xfrm>
            <a:prstGeom prst="rect">
              <a:avLst/>
            </a:prstGeom>
            <a:solidFill>
              <a:srgbClr val="0B5852"/>
            </a:solidFill>
            <a:ln/>
          </p:spPr>
        </p:sp>
      </p:grpSp>
      <p:sp>
        <p:nvSpPr>
          <p:cNvPr id="87" name="Shape 0">
            <a:extLst>
              <a:ext uri="{FF2B5EF4-FFF2-40B4-BE49-F238E27FC236}">
                <a16:creationId xmlns:a16="http://schemas.microsoft.com/office/drawing/2014/main" id="{D0E0CC4D-0857-4350-BEF7-5F0684DE29AA}"/>
              </a:ext>
            </a:extLst>
          </p:cNvPr>
          <p:cNvSpPr/>
          <p:nvPr/>
        </p:nvSpPr>
        <p:spPr>
          <a:xfrm>
            <a:off x="0" y="9897984"/>
            <a:ext cx="18288000" cy="389016"/>
          </a:xfrm>
          <a:prstGeom prst="rect">
            <a:avLst/>
          </a:prstGeom>
          <a:solidFill>
            <a:srgbClr val="083B37"/>
          </a:solidFill>
          <a:ln/>
        </p:spPr>
      </p:sp>
      <p:sp>
        <p:nvSpPr>
          <p:cNvPr id="88" name="Text 15">
            <a:extLst>
              <a:ext uri="{FF2B5EF4-FFF2-40B4-BE49-F238E27FC236}">
                <a16:creationId xmlns:a16="http://schemas.microsoft.com/office/drawing/2014/main" id="{39E28FF8-2A33-44DA-9A9E-F52A3A512C20}"/>
              </a:ext>
            </a:extLst>
          </p:cNvPr>
          <p:cNvSpPr/>
          <p:nvPr/>
        </p:nvSpPr>
        <p:spPr>
          <a:xfrm>
            <a:off x="840907" y="2766933"/>
            <a:ext cx="9869714" cy="1286674"/>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We had finetuned Smean TTS on </a:t>
            </a:r>
            <a:r>
              <a:rPr lang="en-US" sz="2000" b="1" dirty="0">
                <a:solidFill>
                  <a:schemeClr val="bg2">
                    <a:lumMod val="25000"/>
                  </a:schemeClr>
                </a:solidFill>
                <a:latin typeface="Cambria" panose="02040503050406030204" pitchFamily="18" charset="0"/>
                <a:ea typeface="Cambria" panose="02040503050406030204" pitchFamily="18" charset="0"/>
              </a:rPr>
              <a:t>3.51hr</a:t>
            </a:r>
            <a:r>
              <a:rPr lang="en-US" sz="2000" dirty="0">
                <a:solidFill>
                  <a:schemeClr val="bg2">
                    <a:lumMod val="25000"/>
                  </a:schemeClr>
                </a:solidFill>
                <a:latin typeface="Cambria" panose="02040503050406030204" pitchFamily="18" charset="0"/>
                <a:ea typeface="Cambria" panose="02040503050406030204" pitchFamily="18" charset="0"/>
              </a:rPr>
              <a:t> of tagged English speech derived from </a:t>
            </a:r>
            <a:r>
              <a:rPr lang="en-US" sz="2000" b="1" dirty="0">
                <a:solidFill>
                  <a:schemeClr val="bg2">
                    <a:lumMod val="25000"/>
                  </a:schemeClr>
                </a:solidFill>
                <a:latin typeface="Cambria" panose="02040503050406030204" pitchFamily="18" charset="0"/>
                <a:ea typeface="Cambria" panose="02040503050406030204" pitchFamily="18" charset="0"/>
              </a:rPr>
              <a:t>NonVerbalTTS</a:t>
            </a:r>
            <a:r>
              <a:rPr lang="en-US" sz="2000" dirty="0">
                <a:solidFill>
                  <a:schemeClr val="bg2">
                    <a:lumMod val="25000"/>
                  </a:schemeClr>
                </a:solidFill>
                <a:latin typeface="Cambria" panose="02040503050406030204" pitchFamily="18" charset="0"/>
                <a:ea typeface="Cambria" panose="02040503050406030204" pitchFamily="18" charset="0"/>
              </a:rPr>
              <a:t> dataset, and has evaluated on 60 clips taken from the same dataset. The evaluation test can be explained below:</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8CCA26B7-3199-44F9-97BF-C4526B833CAB}"/>
              </a:ext>
            </a:extLst>
          </p:cNvPr>
          <p:cNvGraphicFramePr>
            <a:graphicFrameLocks noGrp="1"/>
          </p:cNvGraphicFramePr>
          <p:nvPr>
            <p:extLst>
              <p:ext uri="{D42A27DB-BD31-4B8C-83A1-F6EECF244321}">
                <p14:modId xmlns:p14="http://schemas.microsoft.com/office/powerpoint/2010/main" val="2199416847"/>
              </p:ext>
            </p:extLst>
          </p:nvPr>
        </p:nvGraphicFramePr>
        <p:xfrm>
          <a:off x="840906" y="3988381"/>
          <a:ext cx="10022111" cy="1874288"/>
        </p:xfrm>
        <a:graphic>
          <a:graphicData uri="http://schemas.openxmlformats.org/drawingml/2006/table">
            <a:tbl>
              <a:tblPr firstRow="1" firstCol="1" bandRow="1">
                <a:tableStyleId>{93296810-A885-4BE3-A3E7-6D5BEEA58F35}</a:tableStyleId>
              </a:tblPr>
              <a:tblGrid>
                <a:gridCol w="2444630">
                  <a:extLst>
                    <a:ext uri="{9D8B030D-6E8A-4147-A177-3AD203B41FA5}">
                      <a16:colId xmlns:a16="http://schemas.microsoft.com/office/drawing/2014/main" val="3809572241"/>
                    </a:ext>
                  </a:extLst>
                </a:gridCol>
                <a:gridCol w="2078152">
                  <a:extLst>
                    <a:ext uri="{9D8B030D-6E8A-4147-A177-3AD203B41FA5}">
                      <a16:colId xmlns:a16="http://schemas.microsoft.com/office/drawing/2014/main" val="1640512054"/>
                    </a:ext>
                  </a:extLst>
                </a:gridCol>
                <a:gridCol w="1955269">
                  <a:extLst>
                    <a:ext uri="{9D8B030D-6E8A-4147-A177-3AD203B41FA5}">
                      <a16:colId xmlns:a16="http://schemas.microsoft.com/office/drawing/2014/main" val="3561229697"/>
                    </a:ext>
                  </a:extLst>
                </a:gridCol>
                <a:gridCol w="1710588">
                  <a:extLst>
                    <a:ext uri="{9D8B030D-6E8A-4147-A177-3AD203B41FA5}">
                      <a16:colId xmlns:a16="http://schemas.microsoft.com/office/drawing/2014/main" val="1366842677"/>
                    </a:ext>
                  </a:extLst>
                </a:gridCol>
                <a:gridCol w="1833472">
                  <a:extLst>
                    <a:ext uri="{9D8B030D-6E8A-4147-A177-3AD203B41FA5}">
                      <a16:colId xmlns:a16="http://schemas.microsoft.com/office/drawing/2014/main" val="2235516379"/>
                    </a:ext>
                  </a:extLst>
                </a:gridCol>
              </a:tblGrid>
              <a:tr h="468572">
                <a:tc>
                  <a:txBody>
                    <a:bodyPr/>
                    <a:lstStyle/>
                    <a:p>
                      <a:pPr marL="0" marR="0">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Condition</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Mean loss</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Change</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Worse</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p</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extLst>
                  <a:ext uri="{0D108BD9-81ED-4DB2-BD59-A6C34878D82A}">
                    <a16:rowId xmlns:a16="http://schemas.microsoft.com/office/drawing/2014/main" val="1959502716"/>
                  </a:ext>
                </a:extLst>
              </a:tr>
              <a:tr h="468572">
                <a:tc>
                  <a:txBody>
                    <a:bodyPr/>
                    <a:lstStyle/>
                    <a:p>
                      <a:pPr marL="0" marR="0">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Removed</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0.34955</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+0.11885</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a:effectLst/>
                          <a:latin typeface="Cambria" panose="02040503050406030204" pitchFamily="18" charset="0"/>
                          <a:ea typeface="Cambria" panose="02040503050406030204" pitchFamily="18" charset="0"/>
                        </a:rPr>
                        <a:t>59/60</a:t>
                      </a:r>
                      <a:endParaRPr lang="en-US" sz="320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&lt; 0.0001</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02399021"/>
                  </a:ext>
                </a:extLst>
              </a:tr>
              <a:tr h="468572">
                <a:tc>
                  <a:txBody>
                    <a:bodyPr/>
                    <a:lstStyle/>
                    <a:p>
                      <a:pPr marL="0" marR="0">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Moved</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0.29089</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+0.06019</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43/60</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0.0005</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3072379"/>
                  </a:ext>
                </a:extLst>
              </a:tr>
              <a:tr h="468572">
                <a:tc>
                  <a:txBody>
                    <a:bodyPr/>
                    <a:lstStyle/>
                    <a:p>
                      <a:pPr marL="0" marR="0">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Scrambled</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0.84472</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+0.61402</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59/60</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r">
                        <a:lnSpc>
                          <a:spcPct val="110000"/>
                        </a:lnSpc>
                        <a:spcBef>
                          <a:spcPts val="260"/>
                        </a:spcBef>
                        <a:spcAft>
                          <a:spcPts val="260"/>
                        </a:spcAft>
                      </a:pPr>
                      <a:r>
                        <a:rPr lang="en-US" sz="2000" dirty="0">
                          <a:effectLst/>
                          <a:latin typeface="Cambria" panose="02040503050406030204" pitchFamily="18" charset="0"/>
                          <a:ea typeface="Cambria" panose="02040503050406030204" pitchFamily="18" charset="0"/>
                        </a:rPr>
                        <a:t>&lt; 0.0001</a:t>
                      </a:r>
                      <a:endParaRPr lang="en-US" sz="32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963495908"/>
                  </a:ext>
                </a:extLst>
              </a:tr>
            </a:tbl>
          </a:graphicData>
        </a:graphic>
      </p:graphicFrame>
      <p:sp>
        <p:nvSpPr>
          <p:cNvPr id="28" name="Text 15">
            <a:extLst>
              <a:ext uri="{FF2B5EF4-FFF2-40B4-BE49-F238E27FC236}">
                <a16:creationId xmlns:a16="http://schemas.microsoft.com/office/drawing/2014/main" id="{8C694F70-599C-4B0B-B290-7C705A37285A}"/>
              </a:ext>
            </a:extLst>
          </p:cNvPr>
          <p:cNvSpPr/>
          <p:nvPr/>
        </p:nvSpPr>
        <p:spPr>
          <a:xfrm>
            <a:off x="840907" y="6344617"/>
            <a:ext cx="9869714" cy="2724374"/>
          </a:xfrm>
          <a:prstGeom prst="rect">
            <a:avLst/>
          </a:prstGeom>
          <a:noFill/>
          <a:ln/>
        </p:spPr>
        <p:txBody>
          <a:bodyPr wrap="square" lIns="25400" tIns="25400" rIns="25400" bIns="25400" rtlCol="0" anchor="t">
            <a:no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Where:</a:t>
            </a:r>
          </a:p>
          <a:p>
            <a:pPr marL="342900" indent="-342900" algn="just">
              <a:lnSpc>
                <a:spcPct val="114853"/>
              </a:lnSpc>
              <a:buFont typeface="Arial" panose="020B0604020202020204" pitchFamily="34" charset="0"/>
              <a:buChar char="•"/>
            </a:pPr>
            <a:r>
              <a:rPr lang="en-US" sz="2000" b="1" dirty="0">
                <a:solidFill>
                  <a:schemeClr val="bg2">
                    <a:lumMod val="25000"/>
                  </a:schemeClr>
                </a:solidFill>
                <a:latin typeface="Cambria" panose="02040503050406030204" pitchFamily="18" charset="0"/>
                <a:ea typeface="Cambria" panose="02040503050406030204" pitchFamily="18" charset="0"/>
              </a:rPr>
              <a:t>Removed</a:t>
            </a:r>
            <a:r>
              <a:rPr lang="en-US" sz="2000" dirty="0">
                <a:solidFill>
                  <a:schemeClr val="bg2">
                    <a:lumMod val="25000"/>
                  </a:schemeClr>
                </a:solidFill>
                <a:latin typeface="Cambria" panose="02040503050406030204" pitchFamily="18" charset="0"/>
                <a:ea typeface="Cambria" panose="02040503050406030204" pitchFamily="18" charset="0"/>
              </a:rPr>
              <a:t>: Test whether the tags carries information</a:t>
            </a:r>
          </a:p>
          <a:p>
            <a:pPr marL="342900" indent="-342900" algn="just">
              <a:lnSpc>
                <a:spcPct val="114853"/>
              </a:lnSpc>
              <a:buFont typeface="Arial" panose="020B0604020202020204" pitchFamily="34" charset="0"/>
              <a:buChar char="•"/>
            </a:pPr>
            <a:r>
              <a:rPr lang="en-US" sz="2000" b="1" dirty="0">
                <a:solidFill>
                  <a:schemeClr val="bg2">
                    <a:lumMod val="25000"/>
                  </a:schemeClr>
                </a:solidFill>
                <a:latin typeface="Cambria" panose="02040503050406030204" pitchFamily="18" charset="0"/>
                <a:ea typeface="Cambria" panose="02040503050406030204" pitchFamily="18" charset="0"/>
              </a:rPr>
              <a:t>Moved</a:t>
            </a:r>
            <a:r>
              <a:rPr lang="en-US" sz="2000" dirty="0">
                <a:solidFill>
                  <a:schemeClr val="bg2">
                    <a:lumMod val="25000"/>
                  </a:schemeClr>
                </a:solidFill>
                <a:latin typeface="Cambria" panose="02040503050406030204" pitchFamily="18" charset="0"/>
                <a:ea typeface="Cambria" panose="02040503050406030204" pitchFamily="18" charset="0"/>
              </a:rPr>
              <a:t>: Test whether the tag’s position carries information</a:t>
            </a:r>
          </a:p>
          <a:p>
            <a:pPr marL="342900" indent="-342900" algn="just">
              <a:lnSpc>
                <a:spcPct val="114853"/>
              </a:lnSpc>
              <a:buFont typeface="Arial" panose="020B0604020202020204" pitchFamily="34" charset="0"/>
              <a:buChar char="•"/>
            </a:pPr>
            <a:r>
              <a:rPr lang="en-US" sz="2000" b="1" dirty="0">
                <a:solidFill>
                  <a:schemeClr val="bg2">
                    <a:lumMod val="25000"/>
                  </a:schemeClr>
                </a:solidFill>
                <a:latin typeface="Cambria" panose="02040503050406030204" pitchFamily="18" charset="0"/>
                <a:ea typeface="Cambria" panose="02040503050406030204" pitchFamily="18" charset="0"/>
              </a:rPr>
              <a:t>Scrambled</a:t>
            </a:r>
            <a:r>
              <a:rPr lang="en-US" sz="2000" dirty="0">
                <a:solidFill>
                  <a:schemeClr val="bg2">
                    <a:lumMod val="25000"/>
                  </a:schemeClr>
                </a:solidFill>
                <a:latin typeface="Cambria" panose="02040503050406030204" pitchFamily="18" charset="0"/>
                <a:ea typeface="Cambria" panose="02040503050406030204" pitchFamily="18" charset="0"/>
              </a:rPr>
              <a:t>: Control Test</a:t>
            </a:r>
          </a:p>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Based on our analysis, Smean TTS can be trained to </a:t>
            </a:r>
            <a:r>
              <a:rPr lang="en-US" sz="2000" b="1" dirty="0">
                <a:solidFill>
                  <a:schemeClr val="bg2">
                    <a:lumMod val="25000"/>
                  </a:schemeClr>
                </a:solidFill>
                <a:latin typeface="Cambria" panose="02040503050406030204" pitchFamily="18" charset="0"/>
                <a:ea typeface="Cambria" panose="02040503050406030204" pitchFamily="18" charset="0"/>
              </a:rPr>
              <a:t>conditioned</a:t>
            </a:r>
            <a:r>
              <a:rPr lang="en-US" sz="2000" dirty="0">
                <a:solidFill>
                  <a:schemeClr val="bg2">
                    <a:lumMod val="25000"/>
                  </a:schemeClr>
                </a:solidFill>
                <a:latin typeface="Cambria" panose="02040503050406030204" pitchFamily="18" charset="0"/>
                <a:ea typeface="Cambria" panose="02040503050406030204" pitchFamily="18" charset="0"/>
              </a:rPr>
              <a:t> on </a:t>
            </a:r>
            <a:r>
              <a:rPr lang="en-US" sz="2000" b="1" dirty="0">
                <a:solidFill>
                  <a:schemeClr val="bg2">
                    <a:lumMod val="25000"/>
                  </a:schemeClr>
                </a:solidFill>
                <a:latin typeface="Cambria" panose="02040503050406030204" pitchFamily="18" charset="0"/>
                <a:ea typeface="Cambria" panose="02040503050406030204" pitchFamily="18" charset="0"/>
              </a:rPr>
              <a:t>newer</a:t>
            </a:r>
            <a:r>
              <a:rPr lang="en-US" sz="2000" dirty="0">
                <a:solidFill>
                  <a:schemeClr val="bg2">
                    <a:lumMod val="25000"/>
                  </a:schemeClr>
                </a:solidFill>
                <a:latin typeface="Cambria" panose="02040503050406030204" pitchFamily="18" charset="0"/>
                <a:ea typeface="Cambria" panose="02040503050406030204" pitchFamily="18" charset="0"/>
              </a:rPr>
              <a:t> and </a:t>
            </a:r>
            <a:r>
              <a:rPr lang="en-US" sz="2000" b="1" dirty="0">
                <a:solidFill>
                  <a:schemeClr val="bg2">
                    <a:lumMod val="25000"/>
                  </a:schemeClr>
                </a:solidFill>
                <a:latin typeface="Cambria" panose="02040503050406030204" pitchFamily="18" charset="0"/>
                <a:ea typeface="Cambria" panose="02040503050406030204" pitchFamily="18" charset="0"/>
              </a:rPr>
              <a:t>existing</a:t>
            </a:r>
            <a:r>
              <a:rPr lang="en-US" sz="2000" dirty="0">
                <a:solidFill>
                  <a:schemeClr val="bg2">
                    <a:lumMod val="25000"/>
                  </a:schemeClr>
                </a:solidFill>
                <a:latin typeface="Cambria" panose="02040503050406030204" pitchFamily="18" charset="0"/>
                <a:ea typeface="Cambria" panose="02040503050406030204" pitchFamily="18" charset="0"/>
              </a:rPr>
              <a:t> tags, however, we would need large volumes of data in order to make the tags fire reliably across different sentences, and tags placement.</a:t>
            </a:r>
          </a:p>
        </p:txBody>
      </p:sp>
      <p:sp>
        <p:nvSpPr>
          <p:cNvPr id="29" name="Text 15">
            <a:extLst>
              <a:ext uri="{FF2B5EF4-FFF2-40B4-BE49-F238E27FC236}">
                <a16:creationId xmlns:a16="http://schemas.microsoft.com/office/drawing/2014/main" id="{6EAB7999-432B-467A-AB4C-1775A269ABE4}"/>
              </a:ext>
            </a:extLst>
          </p:cNvPr>
          <p:cNvSpPr/>
          <p:nvPr/>
        </p:nvSpPr>
        <p:spPr>
          <a:xfrm>
            <a:off x="840906" y="5909135"/>
            <a:ext cx="9869714" cy="389016"/>
          </a:xfrm>
          <a:prstGeom prst="rect">
            <a:avLst/>
          </a:prstGeom>
          <a:noFill/>
          <a:ln/>
        </p:spPr>
        <p:txBody>
          <a:bodyPr wrap="square" lIns="25400" tIns="25400" rIns="25400" bIns="25400" rtlCol="0" anchor="t">
            <a:noAutofit/>
          </a:bodyPr>
          <a:lstStyle/>
          <a:p>
            <a:pPr algn="just">
              <a:lnSpc>
                <a:spcPct val="114853"/>
              </a:lnSpc>
            </a:pPr>
            <a:r>
              <a:rPr lang="en-US" sz="2000" i="1" dirty="0">
                <a:solidFill>
                  <a:schemeClr val="bg2">
                    <a:lumMod val="75000"/>
                  </a:schemeClr>
                </a:solidFill>
                <a:latin typeface="Cambria" panose="02040503050406030204" pitchFamily="18" charset="0"/>
                <a:ea typeface="Cambria" panose="02040503050406030204" pitchFamily="18" charset="0"/>
              </a:rPr>
              <a:t>Final Training Loss: 0.23070</a:t>
            </a:r>
          </a:p>
        </p:txBody>
      </p:sp>
      <p:sp>
        <p:nvSpPr>
          <p:cNvPr id="30" name="Text 15">
            <a:extLst>
              <a:ext uri="{FF2B5EF4-FFF2-40B4-BE49-F238E27FC236}">
                <a16:creationId xmlns:a16="http://schemas.microsoft.com/office/drawing/2014/main" id="{665C7922-3295-42A9-88BF-9EB9114B9F86}"/>
              </a:ext>
            </a:extLst>
          </p:cNvPr>
          <p:cNvSpPr/>
          <p:nvPr/>
        </p:nvSpPr>
        <p:spPr>
          <a:xfrm>
            <a:off x="688509" y="9143301"/>
            <a:ext cx="9869714" cy="389016"/>
          </a:xfrm>
          <a:prstGeom prst="rect">
            <a:avLst/>
          </a:prstGeom>
          <a:noFill/>
          <a:ln/>
        </p:spPr>
        <p:txBody>
          <a:bodyPr wrap="square" lIns="25400" tIns="25400" rIns="25400" bIns="25400" rtlCol="0" anchor="t">
            <a:noAutofit/>
          </a:bodyPr>
          <a:lstStyle/>
          <a:p>
            <a:pPr algn="just">
              <a:lnSpc>
                <a:spcPct val="114853"/>
              </a:lnSpc>
            </a:pPr>
            <a:r>
              <a:rPr lang="en-US" sz="2000" i="1" dirty="0">
                <a:solidFill>
                  <a:schemeClr val="bg2">
                    <a:lumMod val="75000"/>
                  </a:schemeClr>
                </a:solidFill>
                <a:latin typeface="Cambria" panose="02040503050406030204" pitchFamily="18" charset="0"/>
                <a:ea typeface="Cambria" panose="02040503050406030204" pitchFamily="18" charset="0"/>
              </a:rPr>
              <a:t>Sample audio can be listened </a:t>
            </a:r>
            <a:r>
              <a:rPr lang="en-US" sz="2000" i="1" dirty="0">
                <a:solidFill>
                  <a:schemeClr val="bg2">
                    <a:lumMod val="75000"/>
                  </a:schemeClr>
                </a:solidFill>
                <a:latin typeface="Cambria" panose="02040503050406030204" pitchFamily="18" charset="0"/>
                <a:ea typeface="Cambria" panose="02040503050406030204" pitchFamily="18" charset="0"/>
                <a:hlinkClick r:id="rId3"/>
              </a:rPr>
              <a:t>here</a:t>
            </a:r>
            <a:endParaRPr lang="en-US" sz="2000" i="1" dirty="0">
              <a:solidFill>
                <a:schemeClr val="bg2">
                  <a:lumMod val="75000"/>
                </a:schemeClr>
              </a:solidFill>
              <a:latin typeface="Cambria" panose="02040503050406030204" pitchFamily="18" charset="0"/>
              <a:ea typeface="Cambria" panose="02040503050406030204" pitchFamily="18" charset="0"/>
            </a:endParaRPr>
          </a:p>
        </p:txBody>
      </p:sp>
      <p:sp>
        <p:nvSpPr>
          <p:cNvPr id="32" name="Text 15">
            <a:extLst>
              <a:ext uri="{FF2B5EF4-FFF2-40B4-BE49-F238E27FC236}">
                <a16:creationId xmlns:a16="http://schemas.microsoft.com/office/drawing/2014/main" id="{A308C96B-6096-4BBB-9D35-3AF25A802194}"/>
              </a:ext>
            </a:extLst>
          </p:cNvPr>
          <p:cNvSpPr/>
          <p:nvPr/>
        </p:nvSpPr>
        <p:spPr>
          <a:xfrm>
            <a:off x="11479879" y="4234021"/>
            <a:ext cx="4630978" cy="1188307"/>
          </a:xfrm>
          <a:prstGeom prst="rect">
            <a:avLst/>
          </a:prstGeom>
          <a:noFill/>
          <a:ln/>
        </p:spPr>
        <p:txBody>
          <a:bodyPr wrap="square" lIns="25400" tIns="25400" rIns="25400" bIns="25400" rtlCol="0" anchor="t">
            <a:normAutofit/>
          </a:bodyPr>
          <a:lstStyle/>
          <a:p>
            <a:pPr>
              <a:lnSpc>
                <a:spcPct val="150000"/>
              </a:lnSpc>
            </a:pPr>
            <a:r>
              <a:rPr lang="en-US" sz="1600" i="1" dirty="0">
                <a:solidFill>
                  <a:schemeClr val="bg2">
                    <a:lumMod val="75000"/>
                  </a:schemeClr>
                </a:solidFill>
                <a:latin typeface="Cambria" panose="02040503050406030204" pitchFamily="18" charset="0"/>
                <a:ea typeface="Cambria" panose="02040503050406030204" pitchFamily="18" charset="0"/>
              </a:rPr>
              <a:t>Removing, and moving tags does affect its loss, therefore we can conclude that teaching the model to use tags does work.</a:t>
            </a:r>
          </a:p>
        </p:txBody>
      </p:sp>
      <p:cxnSp>
        <p:nvCxnSpPr>
          <p:cNvPr id="7" name="Straight Connector 6">
            <a:extLst>
              <a:ext uri="{FF2B5EF4-FFF2-40B4-BE49-F238E27FC236}">
                <a16:creationId xmlns:a16="http://schemas.microsoft.com/office/drawing/2014/main" id="{5A2C1BE3-1E3D-414A-9CE6-3192002717F7}"/>
              </a:ext>
            </a:extLst>
          </p:cNvPr>
          <p:cNvCxnSpPr/>
          <p:nvPr/>
        </p:nvCxnSpPr>
        <p:spPr>
          <a:xfrm>
            <a:off x="11411299" y="4331371"/>
            <a:ext cx="0" cy="1188307"/>
          </a:xfrm>
          <a:prstGeom prst="line">
            <a:avLst/>
          </a:prstGeom>
          <a:ln w="19050">
            <a:solidFill>
              <a:srgbClr val="76777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31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E41674B-3A28-4A10-BE8B-919C3E3A4D31}"/>
              </a:ext>
            </a:extLst>
          </p:cNvPr>
          <p:cNvGrpSpPr/>
          <p:nvPr/>
        </p:nvGrpSpPr>
        <p:grpSpPr>
          <a:xfrm>
            <a:off x="688508" y="832167"/>
            <a:ext cx="7468521" cy="867471"/>
            <a:chOff x="5550794" y="437377"/>
            <a:chExt cx="9092485" cy="867471"/>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9092485"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rPr>
                <a:t>Controlling Prosody</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1258232"/>
              <a:ext cx="7593708" cy="46616"/>
            </a:xfrm>
            <a:prstGeom prst="rect">
              <a:avLst/>
            </a:prstGeom>
            <a:solidFill>
              <a:srgbClr val="0B5852"/>
            </a:solidFill>
            <a:ln/>
          </p:spPr>
        </p:sp>
      </p:grpSp>
      <p:sp>
        <p:nvSpPr>
          <p:cNvPr id="87" name="Shape 0">
            <a:extLst>
              <a:ext uri="{FF2B5EF4-FFF2-40B4-BE49-F238E27FC236}">
                <a16:creationId xmlns:a16="http://schemas.microsoft.com/office/drawing/2014/main" id="{D0E0CC4D-0857-4350-BEF7-5F0684DE29AA}"/>
              </a:ext>
            </a:extLst>
          </p:cNvPr>
          <p:cNvSpPr/>
          <p:nvPr/>
        </p:nvSpPr>
        <p:spPr>
          <a:xfrm>
            <a:off x="0" y="9897984"/>
            <a:ext cx="18288000" cy="389016"/>
          </a:xfrm>
          <a:prstGeom prst="rect">
            <a:avLst/>
          </a:prstGeom>
          <a:solidFill>
            <a:srgbClr val="083B37"/>
          </a:solidFill>
          <a:ln/>
        </p:spPr>
      </p:sp>
      <p:sp>
        <p:nvSpPr>
          <p:cNvPr id="26" name="Text 15">
            <a:extLst>
              <a:ext uri="{FF2B5EF4-FFF2-40B4-BE49-F238E27FC236}">
                <a16:creationId xmlns:a16="http://schemas.microsoft.com/office/drawing/2014/main" id="{25ABC882-AA56-428F-A384-65A5EACB25DB}"/>
              </a:ext>
            </a:extLst>
          </p:cNvPr>
          <p:cNvSpPr/>
          <p:nvPr/>
        </p:nvSpPr>
        <p:spPr>
          <a:xfrm>
            <a:off x="840907" y="2120491"/>
            <a:ext cx="10610863" cy="1487420"/>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To gauge Smean TTS </a:t>
            </a:r>
            <a:r>
              <a:rPr lang="en-US" sz="2000" b="1" dirty="0">
                <a:solidFill>
                  <a:schemeClr val="bg2">
                    <a:lumMod val="25000"/>
                  </a:schemeClr>
                </a:solidFill>
                <a:latin typeface="Cambria" panose="02040503050406030204" pitchFamily="18" charset="0"/>
                <a:ea typeface="Cambria" panose="02040503050406030204" pitchFamily="18" charset="0"/>
              </a:rPr>
              <a:t>prosodic</a:t>
            </a:r>
            <a:r>
              <a:rPr lang="en-US" sz="2000" dirty="0">
                <a:solidFill>
                  <a:schemeClr val="bg2">
                    <a:lumMod val="25000"/>
                  </a:schemeClr>
                </a:solidFill>
                <a:latin typeface="Cambria" panose="02040503050406030204" pitchFamily="18" charset="0"/>
                <a:ea typeface="Cambria" panose="02040503050406030204" pitchFamily="18" charset="0"/>
              </a:rPr>
              <a:t> control, we used </a:t>
            </a:r>
            <a:r>
              <a:rPr lang="en-US" sz="2000" b="1" dirty="0">
                <a:solidFill>
                  <a:schemeClr val="bg2">
                    <a:lumMod val="25000"/>
                  </a:schemeClr>
                </a:solidFill>
                <a:latin typeface="Cambria" panose="02040503050406030204" pitchFamily="18" charset="0"/>
                <a:ea typeface="Cambria" panose="02040503050406030204" pitchFamily="18" charset="0"/>
              </a:rPr>
              <a:t>eight</a:t>
            </a:r>
            <a:r>
              <a:rPr lang="en-US" sz="2000" dirty="0">
                <a:solidFill>
                  <a:schemeClr val="bg2">
                    <a:lumMod val="25000"/>
                  </a:schemeClr>
                </a:solidFill>
                <a:latin typeface="Cambria" panose="02040503050406030204" pitchFamily="18" charset="0"/>
                <a:ea typeface="Cambria" panose="02040503050406030204" pitchFamily="18" charset="0"/>
              </a:rPr>
              <a:t> Khmer </a:t>
            </a:r>
            <a:r>
              <a:rPr lang="en-US" sz="2000" b="1" dirty="0">
                <a:solidFill>
                  <a:schemeClr val="bg2">
                    <a:lumMod val="25000"/>
                  </a:schemeClr>
                </a:solidFill>
                <a:latin typeface="Cambria" panose="02040503050406030204" pitchFamily="18" charset="0"/>
                <a:ea typeface="Cambria" panose="02040503050406030204" pitchFamily="18" charset="0"/>
              </a:rPr>
              <a:t>sentences</a:t>
            </a:r>
            <a:r>
              <a:rPr lang="en-US" sz="2000" dirty="0">
                <a:solidFill>
                  <a:schemeClr val="bg2">
                    <a:lumMod val="25000"/>
                  </a:schemeClr>
                </a:solidFill>
                <a:latin typeface="Cambria" panose="02040503050406030204" pitchFamily="18" charset="0"/>
                <a:ea typeface="Cambria" panose="02040503050406030204" pitchFamily="18" charset="0"/>
              </a:rPr>
              <a:t> drawn from </a:t>
            </a:r>
            <a:r>
              <a:rPr lang="en-US" sz="2000" b="1" dirty="0">
                <a:solidFill>
                  <a:schemeClr val="bg2">
                    <a:lumMod val="25000"/>
                  </a:schemeClr>
                </a:solidFill>
                <a:latin typeface="Cambria" panose="02040503050406030204" pitchFamily="18" charset="0"/>
                <a:ea typeface="Cambria" panose="02040503050406030204" pitchFamily="18" charset="0"/>
              </a:rPr>
              <a:t>DDD</a:t>
            </a:r>
            <a:r>
              <a:rPr lang="en-US" sz="2000" dirty="0">
                <a:solidFill>
                  <a:schemeClr val="bg2">
                    <a:lumMod val="25000"/>
                  </a:schemeClr>
                </a:solidFill>
                <a:latin typeface="Cambria" panose="02040503050406030204" pitchFamily="18" charset="0"/>
                <a:ea typeface="Cambria" panose="02040503050406030204" pitchFamily="18" charset="0"/>
              </a:rPr>
              <a:t> Dataset, and for each prosodic axis, three prompt were written to test the level of control (low, normal, and high). Prompts and level can be seen below:</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p:txBody>
      </p:sp>
      <p:graphicFrame>
        <p:nvGraphicFramePr>
          <p:cNvPr id="28" name="Table 27">
            <a:extLst>
              <a:ext uri="{FF2B5EF4-FFF2-40B4-BE49-F238E27FC236}">
                <a16:creationId xmlns:a16="http://schemas.microsoft.com/office/drawing/2014/main" id="{B8785C58-43F6-42BD-9984-0A2F212BD96E}"/>
              </a:ext>
            </a:extLst>
          </p:cNvPr>
          <p:cNvGraphicFramePr>
            <a:graphicFrameLocks noGrp="1"/>
          </p:cNvGraphicFramePr>
          <p:nvPr>
            <p:extLst>
              <p:ext uri="{D42A27DB-BD31-4B8C-83A1-F6EECF244321}">
                <p14:modId xmlns:p14="http://schemas.microsoft.com/office/powerpoint/2010/main" val="1457762451"/>
              </p:ext>
            </p:extLst>
          </p:nvPr>
        </p:nvGraphicFramePr>
        <p:xfrm>
          <a:off x="840906" y="3924523"/>
          <a:ext cx="13310523" cy="2226194"/>
        </p:xfrm>
        <a:graphic>
          <a:graphicData uri="http://schemas.openxmlformats.org/drawingml/2006/table">
            <a:tbl>
              <a:tblPr firstRow="1" firstCol="1" bandRow="1">
                <a:tableStyleId>{93296810-A885-4BE3-A3E7-6D5BEEA58F35}</a:tableStyleId>
              </a:tblPr>
              <a:tblGrid>
                <a:gridCol w="1821864">
                  <a:extLst>
                    <a:ext uri="{9D8B030D-6E8A-4147-A177-3AD203B41FA5}">
                      <a16:colId xmlns:a16="http://schemas.microsoft.com/office/drawing/2014/main" val="3809572241"/>
                    </a:ext>
                  </a:extLst>
                </a:gridCol>
                <a:gridCol w="3605000">
                  <a:extLst>
                    <a:ext uri="{9D8B030D-6E8A-4147-A177-3AD203B41FA5}">
                      <a16:colId xmlns:a16="http://schemas.microsoft.com/office/drawing/2014/main" val="1640512054"/>
                    </a:ext>
                  </a:extLst>
                </a:gridCol>
                <a:gridCol w="4478938">
                  <a:extLst>
                    <a:ext uri="{9D8B030D-6E8A-4147-A177-3AD203B41FA5}">
                      <a16:colId xmlns:a16="http://schemas.microsoft.com/office/drawing/2014/main" val="3561229697"/>
                    </a:ext>
                  </a:extLst>
                </a:gridCol>
                <a:gridCol w="3404721">
                  <a:extLst>
                    <a:ext uri="{9D8B030D-6E8A-4147-A177-3AD203B41FA5}">
                      <a16:colId xmlns:a16="http://schemas.microsoft.com/office/drawing/2014/main" val="1366842677"/>
                    </a:ext>
                  </a:extLst>
                </a:gridCol>
              </a:tblGrid>
              <a:tr h="468572">
                <a:tc>
                  <a:txBody>
                    <a:bodyPr/>
                    <a:lstStyle/>
                    <a:p>
                      <a:pPr marL="0" marR="0">
                        <a:lnSpc>
                          <a:spcPct val="110000"/>
                        </a:lnSpc>
                        <a:spcBef>
                          <a:spcPts val="260"/>
                        </a:spcBef>
                        <a:spcAft>
                          <a:spcPts val="260"/>
                        </a:spcAft>
                      </a:pPr>
                      <a:r>
                        <a:rPr lang="en-US" sz="20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Axis</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Level 0</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Level 1</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b="1" dirty="0">
                          <a:solidFill>
                            <a:schemeClr val="bg1"/>
                          </a:solidFill>
                          <a:effectLst/>
                          <a:latin typeface="Cambria" panose="02040503050406030204" pitchFamily="18" charset="0"/>
                          <a:ea typeface="Cambria" panose="02040503050406030204" pitchFamily="18" charset="0"/>
                          <a:cs typeface="Cambria" panose="02040503050406030204" pitchFamily="18" charset="0"/>
                        </a:rPr>
                        <a:t>Level 2</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extLst>
                  <a:ext uri="{0D108BD9-81ED-4DB2-BD59-A6C34878D82A}">
                    <a16:rowId xmlns:a16="http://schemas.microsoft.com/office/drawing/2014/main" val="1959502716"/>
                  </a:ext>
                </a:extLst>
              </a:tr>
              <a:tr h="468572">
                <a:tc>
                  <a:txBody>
                    <a:bodyPr/>
                    <a:lstStyle/>
                    <a:p>
                      <a:pPr marL="0" marR="0">
                        <a:lnSpc>
                          <a:spcPct val="110000"/>
                        </a:lnSpc>
                        <a:spcBef>
                          <a:spcPts val="260"/>
                        </a:spcBef>
                        <a:spcAft>
                          <a:spcPts val="260"/>
                        </a:spcAft>
                      </a:pPr>
                      <a:r>
                        <a:rPr lang="en-US" sz="20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Pitch</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i="1">
                          <a:solidFill>
                            <a:srgbClr val="111111"/>
                          </a:solidFill>
                          <a:effectLst/>
                          <a:latin typeface="Cambria" panose="02040503050406030204" pitchFamily="18" charset="0"/>
                          <a:ea typeface="Cambria" panose="02040503050406030204" pitchFamily="18" charset="0"/>
                          <a:cs typeface="Cambria" panose="02040503050406030204" pitchFamily="18" charset="0"/>
                        </a:rPr>
                        <a:t>(a low-pitched voice)</a:t>
                      </a:r>
                      <a:endParaRPr lang="en-US" sz="200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(a normal-pitched voice)</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(a high-pitched voice)</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02399021"/>
                  </a:ext>
                </a:extLst>
              </a:tr>
              <a:tr h="468572">
                <a:tc>
                  <a:txBody>
                    <a:bodyPr/>
                    <a:lstStyle/>
                    <a:p>
                      <a:pPr marL="0" marR="0">
                        <a:lnSpc>
                          <a:spcPct val="110000"/>
                        </a:lnSpc>
                        <a:spcBef>
                          <a:spcPts val="260"/>
                        </a:spcBef>
                        <a:spcAft>
                          <a:spcPts val="260"/>
                        </a:spcAft>
                      </a:pPr>
                      <a:r>
                        <a:rPr lang="en-US" sz="20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Energy</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(speaking very quietly)</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rPr>
                        <a:t>-</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(speaking extremely loudly, at full volume)</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3072379"/>
                  </a:ext>
                </a:extLst>
              </a:tr>
              <a:tr h="468572">
                <a:tc>
                  <a:txBody>
                    <a:bodyPr/>
                    <a:lstStyle/>
                    <a:p>
                      <a:pPr marL="0" marR="0">
                        <a:lnSpc>
                          <a:spcPct val="110000"/>
                        </a:lnSpc>
                        <a:spcBef>
                          <a:spcPts val="260"/>
                        </a:spcBef>
                        <a:spcAft>
                          <a:spcPts val="260"/>
                        </a:spcAft>
                      </a:pPr>
                      <a:r>
                        <a:rPr lang="en-US" sz="2000" dirty="0">
                          <a:solidFill>
                            <a:schemeClr val="bg1"/>
                          </a:solidFill>
                          <a:effectLst/>
                          <a:latin typeface="Cambria" panose="02040503050406030204" pitchFamily="18" charset="0"/>
                          <a:ea typeface="Cambria" panose="02040503050406030204" pitchFamily="18" charset="0"/>
                          <a:cs typeface="Cambria" panose="02040503050406030204" pitchFamily="18" charset="0"/>
                        </a:rPr>
                        <a:t>Rate</a:t>
                      </a:r>
                      <a:endParaRPr lang="en-US" sz="2000" dirty="0">
                        <a:solidFill>
                          <a:schemeClr val="bg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B5852"/>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(speaking very slowly, and deliberately)</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nSpc>
                          <a:spcPct val="110000"/>
                        </a:lnSpc>
                        <a:spcBef>
                          <a:spcPts val="260"/>
                        </a:spcBef>
                        <a:spcAft>
                          <a:spcPts val="260"/>
                        </a:spcAft>
                      </a:pPr>
                      <a:r>
                        <a:rPr lang="en-US" sz="2000" i="1">
                          <a:solidFill>
                            <a:srgbClr val="111111"/>
                          </a:solidFill>
                          <a:effectLst/>
                          <a:latin typeface="Cambria" panose="02040503050406030204" pitchFamily="18" charset="0"/>
                          <a:ea typeface="Cambria" panose="02040503050406030204" pitchFamily="18" charset="0"/>
                          <a:cs typeface="Cambria" panose="02040503050406030204" pitchFamily="18" charset="0"/>
                        </a:rPr>
                        <a:t>(speaking at a normal pace)</a:t>
                      </a:r>
                      <a:endParaRPr lang="en-US" sz="200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nSpc>
                          <a:spcPct val="110000"/>
                        </a:lnSpc>
                        <a:spcBef>
                          <a:spcPts val="260"/>
                        </a:spcBef>
                        <a:spcAft>
                          <a:spcPts val="260"/>
                        </a:spcAft>
                      </a:pPr>
                      <a:r>
                        <a:rPr lang="en-US" sz="2000" i="1" dirty="0">
                          <a:solidFill>
                            <a:srgbClr val="111111"/>
                          </a:solidFill>
                          <a:effectLst/>
                          <a:latin typeface="Cambria" panose="02040503050406030204" pitchFamily="18" charset="0"/>
                          <a:ea typeface="Cambria" panose="02040503050406030204" pitchFamily="18" charset="0"/>
                          <a:cs typeface="Cambria" panose="02040503050406030204" pitchFamily="18" charset="0"/>
                        </a:rPr>
                        <a:t>(speaking quickly)</a:t>
                      </a:r>
                      <a:endParaRPr lang="en-US" sz="2000" dirty="0">
                        <a:solidFill>
                          <a:srgbClr val="111111"/>
                        </a:solidFill>
                        <a:effectLst/>
                        <a:latin typeface="Cambria" panose="02040503050406030204" pitchFamily="18" charset="0"/>
                        <a:ea typeface="Cambria" panose="02040503050406030204" pitchFamily="18" charset="0"/>
                        <a:cs typeface="Khmer OS System" panose="02000500000000020004"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963495908"/>
                  </a:ext>
                </a:extLst>
              </a:tr>
            </a:tbl>
          </a:graphicData>
        </a:graphic>
      </p:graphicFrame>
      <p:sp>
        <p:nvSpPr>
          <p:cNvPr id="29" name="Text 15">
            <a:extLst>
              <a:ext uri="{FF2B5EF4-FFF2-40B4-BE49-F238E27FC236}">
                <a16:creationId xmlns:a16="http://schemas.microsoft.com/office/drawing/2014/main" id="{3788632E-DA2F-43E4-AD82-0892556012B4}"/>
              </a:ext>
            </a:extLst>
          </p:cNvPr>
          <p:cNvSpPr/>
          <p:nvPr/>
        </p:nvSpPr>
        <p:spPr>
          <a:xfrm>
            <a:off x="840907" y="6302755"/>
            <a:ext cx="10610863" cy="3152078"/>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Based on our analysis, all axis has a very low </a:t>
            </a:r>
            <a:r>
              <a:rPr lang="en-US" sz="2000" b="1" dirty="0">
                <a:solidFill>
                  <a:schemeClr val="bg2">
                    <a:lumMod val="25000"/>
                  </a:schemeClr>
                </a:solidFill>
                <a:latin typeface="Cambria" panose="02040503050406030204" pitchFamily="18" charset="0"/>
                <a:ea typeface="Cambria" panose="02040503050406030204" pitchFamily="18" charset="0"/>
              </a:rPr>
              <a:t>p-value</a:t>
            </a:r>
            <a:r>
              <a:rPr lang="en-US" sz="2000" dirty="0">
                <a:solidFill>
                  <a:schemeClr val="bg2">
                    <a:lumMod val="25000"/>
                  </a:schemeClr>
                </a:solidFill>
                <a:latin typeface="Cambria" panose="02040503050406030204" pitchFamily="18" charset="0"/>
                <a:ea typeface="Cambria" panose="02040503050406030204" pitchFamily="18" charset="0"/>
              </a:rPr>
              <a:t> of </a:t>
            </a:r>
            <a:r>
              <a:rPr lang="en-US" sz="2000" b="1" dirty="0">
                <a:solidFill>
                  <a:schemeClr val="bg2">
                    <a:lumMod val="25000"/>
                  </a:schemeClr>
                </a:solidFill>
                <a:latin typeface="Cambria" panose="02040503050406030204" pitchFamily="18" charset="0"/>
                <a:ea typeface="Cambria" panose="02040503050406030204" pitchFamily="18" charset="0"/>
              </a:rPr>
              <a:t>~0.0002-0.003</a:t>
            </a:r>
            <a:r>
              <a:rPr lang="en-US" sz="2000" dirty="0">
                <a:solidFill>
                  <a:schemeClr val="bg2">
                    <a:lumMod val="25000"/>
                  </a:schemeClr>
                </a:solidFill>
                <a:latin typeface="Cambria" panose="02040503050406030204" pitchFamily="18" charset="0"/>
                <a:ea typeface="Cambria" panose="02040503050406030204" pitchFamily="18" charset="0"/>
              </a:rPr>
              <a:t>. This suggest that those prompt can be reliably plug in to any sentences, and it will behave as exactly intended (changing, pitch, energy, and speaking rate).</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Our next step is explore more prompt, and gauge which prompt is most reliably for which prosodic control. We will also engineer a prompt that can modify pitch variation, so the model can produce non-monotonic tone.</a:t>
            </a:r>
          </a:p>
        </p:txBody>
      </p:sp>
      <p:sp>
        <p:nvSpPr>
          <p:cNvPr id="9" name="Text 15">
            <a:extLst>
              <a:ext uri="{FF2B5EF4-FFF2-40B4-BE49-F238E27FC236}">
                <a16:creationId xmlns:a16="http://schemas.microsoft.com/office/drawing/2014/main" id="{59476064-A6EA-4F04-87A9-61C32A65E299}"/>
              </a:ext>
            </a:extLst>
          </p:cNvPr>
          <p:cNvSpPr/>
          <p:nvPr/>
        </p:nvSpPr>
        <p:spPr>
          <a:xfrm>
            <a:off x="688509" y="9143301"/>
            <a:ext cx="9869714" cy="389016"/>
          </a:xfrm>
          <a:prstGeom prst="rect">
            <a:avLst/>
          </a:prstGeom>
          <a:noFill/>
          <a:ln/>
        </p:spPr>
        <p:txBody>
          <a:bodyPr wrap="square" lIns="25400" tIns="25400" rIns="25400" bIns="25400" rtlCol="0" anchor="t">
            <a:noAutofit/>
          </a:bodyPr>
          <a:lstStyle/>
          <a:p>
            <a:pPr algn="just">
              <a:lnSpc>
                <a:spcPct val="114853"/>
              </a:lnSpc>
            </a:pPr>
            <a:r>
              <a:rPr lang="en-US" sz="2000" i="1" dirty="0">
                <a:solidFill>
                  <a:schemeClr val="bg2">
                    <a:lumMod val="75000"/>
                  </a:schemeClr>
                </a:solidFill>
                <a:latin typeface="Cambria" panose="02040503050406030204" pitchFamily="18" charset="0"/>
                <a:ea typeface="Cambria" panose="02040503050406030204" pitchFamily="18" charset="0"/>
              </a:rPr>
              <a:t>Sample audio can be listened </a:t>
            </a:r>
            <a:r>
              <a:rPr lang="en-US" sz="2000" i="1" dirty="0">
                <a:solidFill>
                  <a:schemeClr val="bg2">
                    <a:lumMod val="75000"/>
                  </a:schemeClr>
                </a:solidFill>
                <a:latin typeface="Cambria" panose="02040503050406030204" pitchFamily="18" charset="0"/>
                <a:ea typeface="Cambria" panose="02040503050406030204" pitchFamily="18" charset="0"/>
                <a:hlinkClick r:id="rId3"/>
              </a:rPr>
              <a:t>here</a:t>
            </a:r>
            <a:endParaRPr lang="en-US" sz="2000" i="1" dirty="0">
              <a:solidFill>
                <a:schemeClr val="bg2">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913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E41674B-3A28-4A10-BE8B-919C3E3A4D31}"/>
              </a:ext>
            </a:extLst>
          </p:cNvPr>
          <p:cNvGrpSpPr/>
          <p:nvPr/>
        </p:nvGrpSpPr>
        <p:grpSpPr>
          <a:xfrm>
            <a:off x="688508" y="832167"/>
            <a:ext cx="13622578" cy="867471"/>
            <a:chOff x="5550794" y="437377"/>
            <a:chExt cx="11230589" cy="867471"/>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11230589"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rPr>
                <a:t>Controlling Pitch Modulation</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1258232"/>
              <a:ext cx="7593708" cy="46616"/>
            </a:xfrm>
            <a:prstGeom prst="rect">
              <a:avLst/>
            </a:prstGeom>
            <a:solidFill>
              <a:srgbClr val="0B5852"/>
            </a:solidFill>
            <a:ln/>
          </p:spPr>
        </p:sp>
      </p:grpSp>
      <p:sp>
        <p:nvSpPr>
          <p:cNvPr id="87" name="Shape 0">
            <a:extLst>
              <a:ext uri="{FF2B5EF4-FFF2-40B4-BE49-F238E27FC236}">
                <a16:creationId xmlns:a16="http://schemas.microsoft.com/office/drawing/2014/main" id="{D0E0CC4D-0857-4350-BEF7-5F0684DE29AA}"/>
              </a:ext>
            </a:extLst>
          </p:cNvPr>
          <p:cNvSpPr/>
          <p:nvPr/>
        </p:nvSpPr>
        <p:spPr>
          <a:xfrm>
            <a:off x="0" y="9897984"/>
            <a:ext cx="18288000" cy="389016"/>
          </a:xfrm>
          <a:prstGeom prst="rect">
            <a:avLst/>
          </a:prstGeom>
          <a:solidFill>
            <a:srgbClr val="083B37"/>
          </a:solidFill>
          <a:ln/>
        </p:spPr>
      </p:sp>
      <p:sp>
        <p:nvSpPr>
          <p:cNvPr id="11" name="Text 15">
            <a:extLst>
              <a:ext uri="{FF2B5EF4-FFF2-40B4-BE49-F238E27FC236}">
                <a16:creationId xmlns:a16="http://schemas.microsoft.com/office/drawing/2014/main" id="{FECC5527-4521-4688-99AA-6391B4886929}"/>
              </a:ext>
            </a:extLst>
          </p:cNvPr>
          <p:cNvSpPr/>
          <p:nvPr/>
        </p:nvSpPr>
        <p:spPr>
          <a:xfrm>
            <a:off x="840907" y="2120491"/>
            <a:ext cx="15049063" cy="1487420"/>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The key to making </a:t>
            </a:r>
            <a:r>
              <a:rPr lang="en-US" sz="2000" dirty="0" err="1">
                <a:solidFill>
                  <a:schemeClr val="bg2">
                    <a:lumMod val="25000"/>
                  </a:schemeClr>
                </a:solidFill>
                <a:latin typeface="Cambria" panose="02040503050406030204" pitchFamily="18" charset="0"/>
                <a:ea typeface="Cambria" panose="02040503050406030204" pitchFamily="18" charset="0"/>
              </a:rPr>
              <a:t>Smean</a:t>
            </a:r>
            <a:r>
              <a:rPr lang="en-US" sz="2000" dirty="0">
                <a:solidFill>
                  <a:schemeClr val="bg2">
                    <a:lumMod val="25000"/>
                  </a:schemeClr>
                </a:solidFill>
                <a:latin typeface="Cambria" panose="02040503050406030204" pitchFamily="18" charset="0"/>
                <a:ea typeface="Cambria" panose="02040503050406030204" pitchFamily="18" charset="0"/>
              </a:rPr>
              <a:t> TTS sound natural is controlling the pitch over time to add expression, depth, and emotional nuance. However, describing the expression, and depth does not reliably control how varied the voice generated by VoxCPM2 are. Therefore, we proposed another method of controlling modulation through reference clips.</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p:txBody>
      </p:sp>
      <p:grpSp>
        <p:nvGrpSpPr>
          <p:cNvPr id="5" name="Group 4">
            <a:extLst>
              <a:ext uri="{FF2B5EF4-FFF2-40B4-BE49-F238E27FC236}">
                <a16:creationId xmlns:a16="http://schemas.microsoft.com/office/drawing/2014/main" id="{17F11D0D-2113-47B9-AB0A-4D7BCCC8EED2}"/>
              </a:ext>
            </a:extLst>
          </p:cNvPr>
          <p:cNvGrpSpPr/>
          <p:nvPr/>
        </p:nvGrpSpPr>
        <p:grpSpPr>
          <a:xfrm>
            <a:off x="688508" y="3950365"/>
            <a:ext cx="6059330" cy="5457449"/>
            <a:chOff x="9340515" y="1733968"/>
            <a:chExt cx="6059330" cy="5457449"/>
          </a:xfrm>
        </p:grpSpPr>
        <p:grpSp>
          <p:nvGrpSpPr>
            <p:cNvPr id="12" name="Group 11">
              <a:extLst>
                <a:ext uri="{FF2B5EF4-FFF2-40B4-BE49-F238E27FC236}">
                  <a16:creationId xmlns:a16="http://schemas.microsoft.com/office/drawing/2014/main" id="{B21FE8D3-4D10-4197-B5E9-C2701BD675FA}"/>
                </a:ext>
              </a:extLst>
            </p:cNvPr>
            <p:cNvGrpSpPr/>
            <p:nvPr/>
          </p:nvGrpSpPr>
          <p:grpSpPr>
            <a:xfrm>
              <a:off x="9340515" y="1733968"/>
              <a:ext cx="6059330" cy="5056561"/>
              <a:chOff x="11579560" y="1968091"/>
              <a:chExt cx="4416619" cy="3685706"/>
            </a:xfrm>
          </p:grpSpPr>
          <p:sp>
            <p:nvSpPr>
              <p:cNvPr id="13" name="Rectangle: Rounded Corners 12">
                <a:extLst>
                  <a:ext uri="{FF2B5EF4-FFF2-40B4-BE49-F238E27FC236}">
                    <a16:creationId xmlns:a16="http://schemas.microsoft.com/office/drawing/2014/main" id="{E2B383A4-ECEF-4127-93A5-420B58468303}"/>
                  </a:ext>
                </a:extLst>
              </p:cNvPr>
              <p:cNvSpPr/>
              <p:nvPr/>
            </p:nvSpPr>
            <p:spPr>
              <a:xfrm>
                <a:off x="13379979" y="3290137"/>
                <a:ext cx="2616200" cy="1405368"/>
              </a:xfrm>
              <a:prstGeom prst="roundRect">
                <a:avLst/>
              </a:prstGeom>
              <a:solidFill>
                <a:srgbClr val="0B5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Cambria" panose="02040503050406030204" pitchFamily="18" charset="0"/>
                    <a:ea typeface="Cambria" panose="02040503050406030204" pitchFamily="18" charset="0"/>
                  </a:rPr>
                  <a:t>VoxCPM2</a:t>
                </a:r>
              </a:p>
            </p:txBody>
          </p:sp>
          <p:sp>
            <p:nvSpPr>
              <p:cNvPr id="14" name="Text 15">
                <a:extLst>
                  <a:ext uri="{FF2B5EF4-FFF2-40B4-BE49-F238E27FC236}">
                    <a16:creationId xmlns:a16="http://schemas.microsoft.com/office/drawing/2014/main" id="{A0B23DEA-CCDE-468A-85CC-A4782DA7F642}"/>
                  </a:ext>
                </a:extLst>
              </p:cNvPr>
              <p:cNvSpPr/>
              <p:nvPr/>
            </p:nvSpPr>
            <p:spPr>
              <a:xfrm>
                <a:off x="13679784" y="5370245"/>
                <a:ext cx="2016592" cy="283552"/>
              </a:xfrm>
              <a:prstGeom prst="rect">
                <a:avLst/>
              </a:prstGeom>
              <a:noFill/>
              <a:ln/>
            </p:spPr>
            <p:txBody>
              <a:bodyPr wrap="square" lIns="25400" tIns="25400" rIns="25400" bIns="25400" rtlCol="0" anchor="t">
                <a:normAutofit/>
              </a:bodyPr>
              <a:lstStyle/>
              <a:p>
                <a:pPr algn="just">
                  <a:lnSpc>
                    <a:spcPct val="114853"/>
                  </a:lnSpc>
                </a:pPr>
                <a:r>
                  <a:rPr lang="en-US" sz="1600" dirty="0">
                    <a:solidFill>
                      <a:schemeClr val="bg2">
                        <a:lumMod val="25000"/>
                      </a:schemeClr>
                    </a:solidFill>
                    <a:latin typeface="Cambria" panose="02040503050406030204" pitchFamily="18" charset="0"/>
                    <a:ea typeface="Cambria" panose="02040503050406030204" pitchFamily="18" charset="0"/>
                  </a:rPr>
                  <a:t>The fox jump over the fence…</a:t>
                </a:r>
              </a:p>
            </p:txBody>
          </p:sp>
          <p:cxnSp>
            <p:nvCxnSpPr>
              <p:cNvPr id="18" name="Connector: Elbow 17">
                <a:extLst>
                  <a:ext uri="{FF2B5EF4-FFF2-40B4-BE49-F238E27FC236}">
                    <a16:creationId xmlns:a16="http://schemas.microsoft.com/office/drawing/2014/main" id="{F6FAC2D9-1974-4944-9576-84E814DD37BE}"/>
                  </a:ext>
                </a:extLst>
              </p:cNvPr>
              <p:cNvCxnSpPr>
                <a:cxnSpLocks/>
                <a:stCxn id="14" idx="0"/>
                <a:endCxn id="13" idx="2"/>
              </p:cNvCxnSpPr>
              <p:nvPr/>
            </p:nvCxnSpPr>
            <p:spPr>
              <a:xfrm rot="16200000" flipV="1">
                <a:off x="14350709" y="5032874"/>
                <a:ext cx="674740" cy="1"/>
              </a:xfrm>
              <a:prstGeom prst="bentConnector3">
                <a:avLst>
                  <a:gd name="adj1" fmla="val 50000"/>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20AAEAB1-1696-4382-9504-1DAFB293D1EC}"/>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1579560" y="3712043"/>
                <a:ext cx="1038258" cy="554711"/>
              </a:xfrm>
              <a:prstGeom prst="rect">
                <a:avLst/>
              </a:prstGeom>
            </p:spPr>
          </p:pic>
          <p:cxnSp>
            <p:nvCxnSpPr>
              <p:cNvPr id="21" name="Straight Arrow Connector 20">
                <a:extLst>
                  <a:ext uri="{FF2B5EF4-FFF2-40B4-BE49-F238E27FC236}">
                    <a16:creationId xmlns:a16="http://schemas.microsoft.com/office/drawing/2014/main" id="{CB7F2C4C-3078-4ECE-A1E2-4E78BD993DA8}"/>
                  </a:ext>
                </a:extLst>
              </p:cNvPr>
              <p:cNvCxnSpPr>
                <a:cxnSpLocks/>
                <a:stCxn id="20" idx="3"/>
                <a:endCxn id="13" idx="1"/>
              </p:cNvCxnSpPr>
              <p:nvPr/>
            </p:nvCxnSpPr>
            <p:spPr>
              <a:xfrm>
                <a:off x="12617818" y="3989399"/>
                <a:ext cx="762161" cy="3422"/>
              </a:xfrm>
              <a:prstGeom prst="straightConnector1">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AE3CEBD9-C146-400B-85EC-5D31CB94C598}"/>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14168950" y="1968091"/>
                <a:ext cx="1038258" cy="554711"/>
              </a:xfrm>
              <a:prstGeom prst="rect">
                <a:avLst/>
              </a:prstGeom>
            </p:spPr>
          </p:pic>
          <p:cxnSp>
            <p:nvCxnSpPr>
              <p:cNvPr id="23" name="Straight Arrow Connector 22">
                <a:extLst>
                  <a:ext uri="{FF2B5EF4-FFF2-40B4-BE49-F238E27FC236}">
                    <a16:creationId xmlns:a16="http://schemas.microsoft.com/office/drawing/2014/main" id="{A4D5ADD3-4373-4237-A11B-1E277C6324DD}"/>
                  </a:ext>
                </a:extLst>
              </p:cNvPr>
              <p:cNvCxnSpPr>
                <a:cxnSpLocks/>
                <a:stCxn id="13" idx="0"/>
                <a:endCxn id="22" idx="2"/>
              </p:cNvCxnSpPr>
              <p:nvPr/>
            </p:nvCxnSpPr>
            <p:spPr>
              <a:xfrm flipV="1">
                <a:off x="14688079" y="2522802"/>
                <a:ext cx="0" cy="767335"/>
              </a:xfrm>
              <a:prstGeom prst="straightConnector1">
                <a:avLst/>
              </a:prstGeom>
              <a:ln>
                <a:solidFill>
                  <a:srgbClr val="0B5852"/>
                </a:solidFill>
                <a:tailEnd type="triangle"/>
              </a:ln>
            </p:spPr>
            <p:style>
              <a:lnRef idx="1">
                <a:schemeClr val="accent1"/>
              </a:lnRef>
              <a:fillRef idx="0">
                <a:schemeClr val="accent1"/>
              </a:fillRef>
              <a:effectRef idx="0">
                <a:schemeClr val="accent1"/>
              </a:effectRef>
              <a:fontRef idx="minor">
                <a:schemeClr val="tx1"/>
              </a:fontRef>
            </p:style>
          </p:cxnSp>
          <p:sp>
            <p:nvSpPr>
              <p:cNvPr id="24" name="Text 15">
                <a:extLst>
                  <a:ext uri="{FF2B5EF4-FFF2-40B4-BE49-F238E27FC236}">
                    <a16:creationId xmlns:a16="http://schemas.microsoft.com/office/drawing/2014/main" id="{6C975829-1ED6-4296-93A3-0978A83159AD}"/>
                  </a:ext>
                </a:extLst>
              </p:cNvPr>
              <p:cNvSpPr/>
              <p:nvPr/>
            </p:nvSpPr>
            <p:spPr>
              <a:xfrm>
                <a:off x="14813009" y="2522802"/>
                <a:ext cx="653763" cy="283551"/>
              </a:xfrm>
              <a:prstGeom prst="rect">
                <a:avLst/>
              </a:prstGeom>
              <a:noFill/>
              <a:ln/>
            </p:spPr>
            <p:txBody>
              <a:bodyPr wrap="square" lIns="25400" tIns="25400" rIns="25400" bIns="25400" rtlCol="0" anchor="t">
                <a:noAutofit/>
              </a:bodyPr>
              <a:lstStyle/>
              <a:p>
                <a:pPr algn="just">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Output</a:t>
                </a:r>
              </a:p>
            </p:txBody>
          </p:sp>
          <p:sp>
            <p:nvSpPr>
              <p:cNvPr id="25" name="Text 15">
                <a:extLst>
                  <a:ext uri="{FF2B5EF4-FFF2-40B4-BE49-F238E27FC236}">
                    <a16:creationId xmlns:a16="http://schemas.microsoft.com/office/drawing/2014/main" id="{B3FBF4F5-A02F-4553-A0BB-E554F3D9C415}"/>
                  </a:ext>
                </a:extLst>
              </p:cNvPr>
              <p:cNvSpPr/>
              <p:nvPr/>
            </p:nvSpPr>
            <p:spPr>
              <a:xfrm>
                <a:off x="11579560" y="4276372"/>
                <a:ext cx="1038259" cy="283551"/>
              </a:xfrm>
              <a:prstGeom prst="rect">
                <a:avLst/>
              </a:prstGeom>
              <a:noFill/>
              <a:ln/>
            </p:spPr>
            <p:txBody>
              <a:bodyPr wrap="square" lIns="25400" tIns="25400" rIns="25400" bIns="25400" rtlCol="0" anchor="t">
                <a:noAutofit/>
              </a:bodyPr>
              <a:lstStyle/>
              <a:p>
                <a:pPr algn="just">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Reference Clips</a:t>
                </a:r>
              </a:p>
            </p:txBody>
          </p:sp>
        </p:grpSp>
        <p:sp>
          <p:nvSpPr>
            <p:cNvPr id="30" name="Text 15">
              <a:extLst>
                <a:ext uri="{FF2B5EF4-FFF2-40B4-BE49-F238E27FC236}">
                  <a16:creationId xmlns:a16="http://schemas.microsoft.com/office/drawing/2014/main" id="{C7CDEA75-280B-4F4B-B919-470E162CA92A}"/>
                </a:ext>
              </a:extLst>
            </p:cNvPr>
            <p:cNvSpPr/>
            <p:nvPr/>
          </p:nvSpPr>
          <p:spPr>
            <a:xfrm>
              <a:off x="12892999" y="6802403"/>
              <a:ext cx="1424428" cy="389014"/>
            </a:xfrm>
            <a:prstGeom prst="rect">
              <a:avLst/>
            </a:prstGeom>
            <a:noFill/>
            <a:ln/>
          </p:spPr>
          <p:txBody>
            <a:bodyPr wrap="square" lIns="25400" tIns="25400" rIns="25400" bIns="25400" rtlCol="0" anchor="t">
              <a:noAutofit/>
            </a:bodyPr>
            <a:lstStyle/>
            <a:p>
              <a:pPr algn="ctr">
                <a:lnSpc>
                  <a:spcPct val="114853"/>
                </a:lnSpc>
              </a:pPr>
              <a:r>
                <a:rPr lang="en-US" sz="1600" i="1" dirty="0">
                  <a:solidFill>
                    <a:schemeClr val="bg2">
                      <a:lumMod val="75000"/>
                    </a:schemeClr>
                  </a:solidFill>
                  <a:latin typeface="Cambria" panose="02040503050406030204" pitchFamily="18" charset="0"/>
                  <a:ea typeface="Cambria" panose="02040503050406030204" pitchFamily="18" charset="0"/>
                </a:rPr>
                <a:t>Text Input</a:t>
              </a:r>
            </a:p>
          </p:txBody>
        </p:sp>
      </p:grpSp>
      <p:sp>
        <p:nvSpPr>
          <p:cNvPr id="31" name="Text 15">
            <a:extLst>
              <a:ext uri="{FF2B5EF4-FFF2-40B4-BE49-F238E27FC236}">
                <a16:creationId xmlns:a16="http://schemas.microsoft.com/office/drawing/2014/main" id="{08ED5943-2718-44DD-8488-893764E38D14}"/>
              </a:ext>
            </a:extLst>
          </p:cNvPr>
          <p:cNvSpPr/>
          <p:nvPr/>
        </p:nvSpPr>
        <p:spPr>
          <a:xfrm>
            <a:off x="7499797" y="3954579"/>
            <a:ext cx="8390173" cy="4553712"/>
          </a:xfrm>
          <a:prstGeom prst="rect">
            <a:avLst/>
          </a:prstGeom>
          <a:noFill/>
          <a:ln/>
        </p:spPr>
        <p:txBody>
          <a:bodyPr wrap="square" lIns="25400" tIns="25400" rIns="25400" bIns="25400" rtlCol="0" anchor="t">
            <a:normAutofit/>
          </a:bodyPr>
          <a:lstStyle/>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VoxCPM2 is able to take a reference clip as input, and copy the exact style of speaking, and apply it on a completely different text. Depending on how expressive the reference clips are, VoxCPM2 is able to adapt to the modulation within the reference clips.</a:t>
            </a:r>
          </a:p>
          <a:p>
            <a:pPr algn="just">
              <a:lnSpc>
                <a:spcPct val="114853"/>
              </a:lnSpc>
            </a:pPr>
            <a:endParaRPr lang="en-US" sz="2000" dirty="0">
              <a:solidFill>
                <a:schemeClr val="bg2">
                  <a:lumMod val="25000"/>
                </a:schemeClr>
              </a:solidFill>
              <a:latin typeface="Cambria" panose="02040503050406030204" pitchFamily="18" charset="0"/>
              <a:ea typeface="Cambria" panose="02040503050406030204" pitchFamily="18" charset="0"/>
            </a:endParaRPr>
          </a:p>
          <a:p>
            <a:pPr algn="just">
              <a:lnSpc>
                <a:spcPct val="114853"/>
              </a:lnSpc>
            </a:pPr>
            <a:r>
              <a:rPr lang="en-US" sz="2000" dirty="0">
                <a:solidFill>
                  <a:schemeClr val="bg2">
                    <a:lumMod val="25000"/>
                  </a:schemeClr>
                </a:solidFill>
                <a:latin typeface="Cambria" panose="02040503050406030204" pitchFamily="18" charset="0"/>
                <a:ea typeface="Cambria" panose="02040503050406030204" pitchFamily="18" charset="0"/>
              </a:rPr>
              <a:t>However, this method main limitation is that VoxCPM2 voice mimic whoever is in the reference clips, making it restrictive for user who wished to use a different voice.</a:t>
            </a:r>
          </a:p>
        </p:txBody>
      </p:sp>
      <p:sp>
        <p:nvSpPr>
          <p:cNvPr id="32" name="Text 15">
            <a:extLst>
              <a:ext uri="{FF2B5EF4-FFF2-40B4-BE49-F238E27FC236}">
                <a16:creationId xmlns:a16="http://schemas.microsoft.com/office/drawing/2014/main" id="{28AB3AB6-99CB-4D79-A85C-8190E81A3666}"/>
              </a:ext>
            </a:extLst>
          </p:cNvPr>
          <p:cNvSpPr/>
          <p:nvPr/>
        </p:nvSpPr>
        <p:spPr>
          <a:xfrm>
            <a:off x="7499797" y="9204841"/>
            <a:ext cx="9869714" cy="389016"/>
          </a:xfrm>
          <a:prstGeom prst="rect">
            <a:avLst/>
          </a:prstGeom>
          <a:noFill/>
          <a:ln/>
        </p:spPr>
        <p:txBody>
          <a:bodyPr wrap="square" lIns="25400" tIns="25400" rIns="25400" bIns="25400" rtlCol="0" anchor="t">
            <a:noAutofit/>
          </a:bodyPr>
          <a:lstStyle/>
          <a:p>
            <a:pPr algn="just">
              <a:lnSpc>
                <a:spcPct val="114853"/>
              </a:lnSpc>
            </a:pPr>
            <a:r>
              <a:rPr lang="en-US" sz="2000" i="1" dirty="0">
                <a:solidFill>
                  <a:schemeClr val="bg2">
                    <a:lumMod val="75000"/>
                  </a:schemeClr>
                </a:solidFill>
                <a:latin typeface="Cambria" panose="02040503050406030204" pitchFamily="18" charset="0"/>
                <a:ea typeface="Cambria" panose="02040503050406030204" pitchFamily="18" charset="0"/>
              </a:rPr>
              <a:t>Sample audio can be listened </a:t>
            </a:r>
            <a:r>
              <a:rPr lang="en-US" sz="2000" i="1" dirty="0">
                <a:solidFill>
                  <a:schemeClr val="bg2">
                    <a:lumMod val="75000"/>
                  </a:schemeClr>
                </a:solidFill>
                <a:latin typeface="Cambria" panose="02040503050406030204" pitchFamily="18" charset="0"/>
                <a:ea typeface="Cambria" panose="02040503050406030204" pitchFamily="18" charset="0"/>
                <a:hlinkClick r:id="rId6"/>
              </a:rPr>
              <a:t>here</a:t>
            </a:r>
            <a:endParaRPr lang="en-US" sz="2000" i="1" dirty="0">
              <a:solidFill>
                <a:schemeClr val="bg2">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61179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E41674B-3A28-4A10-BE8B-919C3E3A4D31}"/>
              </a:ext>
            </a:extLst>
          </p:cNvPr>
          <p:cNvGrpSpPr/>
          <p:nvPr/>
        </p:nvGrpSpPr>
        <p:grpSpPr>
          <a:xfrm>
            <a:off x="688508" y="832167"/>
            <a:ext cx="13622578" cy="867471"/>
            <a:chOff x="5550794" y="437377"/>
            <a:chExt cx="11230589" cy="867471"/>
          </a:xfrm>
        </p:grpSpPr>
        <p:sp>
          <p:nvSpPr>
            <p:cNvPr id="36" name="Text 10">
              <a:extLst>
                <a:ext uri="{FF2B5EF4-FFF2-40B4-BE49-F238E27FC236}">
                  <a16:creationId xmlns:a16="http://schemas.microsoft.com/office/drawing/2014/main" id="{653710F3-73F0-4CC1-9253-3E1A5D14AAF0}"/>
                </a:ext>
              </a:extLst>
            </p:cNvPr>
            <p:cNvSpPr/>
            <p:nvPr/>
          </p:nvSpPr>
          <p:spPr>
            <a:xfrm>
              <a:off x="5550794" y="437377"/>
              <a:ext cx="11230589" cy="820856"/>
            </a:xfrm>
            <a:prstGeom prst="rect">
              <a:avLst/>
            </a:prstGeom>
            <a:noFill/>
            <a:ln/>
          </p:spPr>
          <p:txBody>
            <a:bodyPr wrap="square" lIns="25400" tIns="25400" rIns="25400" bIns="25400" rtlCol="0" anchor="t">
              <a:noAutofit/>
            </a:bodyPr>
            <a:lstStyle/>
            <a:p>
              <a:pPr marL="0" indent="0" algn="l">
                <a:lnSpc>
                  <a:spcPct val="93867"/>
                </a:lnSpc>
                <a:buNone/>
              </a:pPr>
              <a:r>
                <a:rPr lang="en-US" sz="4800" b="1" kern="0" spc="-36" dirty="0">
                  <a:solidFill>
                    <a:srgbClr val="0B5852"/>
                  </a:solidFill>
                  <a:latin typeface="Georgia" panose="02040502050405020303" pitchFamily="18" charset="0"/>
                  <a:ea typeface="Barlow Condensed" pitchFamily="34" charset="-122"/>
                </a:rPr>
                <a:t>Recommendation</a:t>
              </a:r>
              <a:endParaRPr lang="en-US" sz="4800" b="1" dirty="0">
                <a:latin typeface="Georgia" panose="02040502050405020303" pitchFamily="18" charset="0"/>
              </a:endParaRPr>
            </a:p>
          </p:txBody>
        </p:sp>
        <p:sp>
          <p:nvSpPr>
            <p:cNvPr id="48" name="Shape 1">
              <a:extLst>
                <a:ext uri="{FF2B5EF4-FFF2-40B4-BE49-F238E27FC236}">
                  <a16:creationId xmlns:a16="http://schemas.microsoft.com/office/drawing/2014/main" id="{D062D97B-2B0C-4CB5-8535-9E819970BA10}"/>
                </a:ext>
              </a:extLst>
            </p:cNvPr>
            <p:cNvSpPr/>
            <p:nvPr/>
          </p:nvSpPr>
          <p:spPr>
            <a:xfrm>
              <a:off x="5550794" y="1258232"/>
              <a:ext cx="7593708" cy="46616"/>
            </a:xfrm>
            <a:prstGeom prst="rect">
              <a:avLst/>
            </a:prstGeom>
            <a:solidFill>
              <a:srgbClr val="0B5852"/>
            </a:solidFill>
            <a:ln/>
          </p:spPr>
        </p:sp>
      </p:grpSp>
      <p:sp>
        <p:nvSpPr>
          <p:cNvPr id="87" name="Shape 0">
            <a:extLst>
              <a:ext uri="{FF2B5EF4-FFF2-40B4-BE49-F238E27FC236}">
                <a16:creationId xmlns:a16="http://schemas.microsoft.com/office/drawing/2014/main" id="{D0E0CC4D-0857-4350-BEF7-5F0684DE29AA}"/>
              </a:ext>
            </a:extLst>
          </p:cNvPr>
          <p:cNvSpPr/>
          <p:nvPr/>
        </p:nvSpPr>
        <p:spPr>
          <a:xfrm>
            <a:off x="0" y="9897984"/>
            <a:ext cx="18288000" cy="389016"/>
          </a:xfrm>
          <a:prstGeom prst="rect">
            <a:avLst/>
          </a:prstGeom>
          <a:solidFill>
            <a:srgbClr val="083B37"/>
          </a:solidFill>
          <a:ln/>
        </p:spPr>
      </p:sp>
    </p:spTree>
    <p:extLst>
      <p:ext uri="{BB962C8B-B14F-4D97-AF65-F5344CB8AC3E}">
        <p14:creationId xmlns:p14="http://schemas.microsoft.com/office/powerpoint/2010/main" val="4097037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1168</Words>
  <Application>Microsoft Office PowerPoint</Application>
  <PresentationFormat>Custom</PresentationFormat>
  <Paragraphs>136</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Barlow</vt:lpstr>
      <vt:lpstr>Barlow Condensed</vt:lpstr>
      <vt:lpstr>Calibri</vt:lpstr>
      <vt:lpstr>Cambria</vt:lpstr>
      <vt:lpstr>Georgia</vt:lpstr>
      <vt:lpstr>Khmer OS System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NHEM DARAYUT</cp:lastModifiedBy>
  <cp:revision>26</cp:revision>
  <dcterms:created xsi:type="dcterms:W3CDTF">2026-09-10T03:25:27Z</dcterms:created>
  <dcterms:modified xsi:type="dcterms:W3CDTF">2026-09-12T05:12:11Z</dcterms:modified>
</cp:coreProperties>
</file>