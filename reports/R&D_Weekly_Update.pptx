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7777"/>
    <a:srgbClr val="0B5852"/>
    <a:srgbClr val="149C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014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5831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Weekly sync — three active ML initiatives from R&amp;D.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 of all three projects — status, this week's work,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 of all three projects — status, this week's work,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2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 of all three projects — status, this week's work,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226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 of all three projects — status, this week's work,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84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 of all three projects — status, this week's work,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7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voxcpm.readthedocs.io/en/latest/cookbook.html" TargetMode="External"/><Relationship Id="rId5" Type="http://schemas.openxmlformats.org/officeDocument/2006/relationships/hyperlink" Target="https://svgsilh.com/image/2936214.html" TargetMode="Externa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code/artifact/95f1b9f5-f6b6-4148-adca-6b72fc17406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B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019" y="419019"/>
            <a:ext cx="17449962" cy="9448962"/>
          </a:xfrm>
          <a:prstGeom prst="rect">
            <a:avLst/>
          </a:prstGeom>
          <a:ln w="8659">
            <a:solidFill>
              <a:srgbClr val="F8F8F5">
                <a:alpha val="30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47750" y="1013533"/>
            <a:ext cx="914346" cy="38019"/>
          </a:xfrm>
          <a:prstGeom prst="rect">
            <a:avLst/>
          </a:prstGeom>
          <a:solidFill>
            <a:srgbClr val="FAF8F4"/>
          </a:solidFill>
          <a:ln/>
        </p:spPr>
      </p:sp>
      <p:sp>
        <p:nvSpPr>
          <p:cNvPr id="5" name="Text 2"/>
          <p:cNvSpPr/>
          <p:nvPr/>
        </p:nvSpPr>
        <p:spPr>
          <a:xfrm>
            <a:off x="1047750" y="1141079"/>
            <a:ext cx="17811750" cy="3924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b="1" kern="0" spc="180" dirty="0">
                <a:solidFill>
                  <a:srgbClr val="ABCFCC"/>
                </a:solidFill>
                <a:latin typeface="Cambria" panose="02040503050406030204" pitchFamily="18" charset="0"/>
                <a:ea typeface="Cambria" panose="02040503050406030204" pitchFamily="18" charset="0"/>
                <a:cs typeface="Barlow Condensed" pitchFamily="34" charset="-120"/>
              </a:rPr>
              <a:t>SMEAN </a:t>
            </a:r>
            <a:r>
              <a:rPr lang="en-US" b="1" kern="0" spc="180" dirty="0">
                <a:solidFill>
                  <a:srgbClr val="ABCFCC"/>
                </a:solidFill>
                <a:latin typeface="Cambria" panose="02040503050406030204" pitchFamily="18" charset="0"/>
                <a:ea typeface="Cambria" panose="02040503050406030204" pitchFamily="18" charset="0"/>
                <a:cs typeface="Barlow Condensed" pitchFamily="34" charset="-120"/>
              </a:rPr>
              <a:t>AI</a:t>
            </a:r>
            <a:endParaRPr lang="en-US" sz="1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47750" y="2901145"/>
            <a:ext cx="9378950" cy="304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600" b="1" kern="0" spc="-76" dirty="0">
                <a:solidFill>
                  <a:srgbClr val="FAF8F4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Project Status Update</a:t>
            </a:r>
            <a:endParaRPr lang="en-US" sz="9600" dirty="0">
              <a:latin typeface="Georgia" panose="02040502050405020303" pitchFamily="18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719BCA2-E81C-44D0-9F37-1AE896A7D375}"/>
              </a:ext>
            </a:extLst>
          </p:cNvPr>
          <p:cNvSpPr/>
          <p:nvPr/>
        </p:nvSpPr>
        <p:spPr>
          <a:xfrm>
            <a:off x="1047749" y="6807969"/>
            <a:ext cx="7078819" cy="1775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spc="300" dirty="0">
                <a:solidFill>
                  <a:schemeClr val="bg2">
                    <a:lumMod val="9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R&amp;D Department</a:t>
            </a:r>
          </a:p>
          <a:p>
            <a:pPr marL="0" indent="0" algn="l">
              <a:buNone/>
            </a:pPr>
            <a:endParaRPr lang="en-US" sz="2800" spc="300" dirty="0">
              <a:solidFill>
                <a:schemeClr val="bg2">
                  <a:lumMod val="9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buNone/>
            </a:pPr>
            <a:r>
              <a:rPr lang="en-US" dirty="0">
                <a:solidFill>
                  <a:schemeClr val="bg2">
                    <a:lumMod val="9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13 September 2026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F37B6732-0E7F-4A9B-9C55-0173BE56B5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20518" y="1117331"/>
            <a:ext cx="7820616" cy="805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083B37"/>
          </a:solidFill>
          <a:ln/>
        </p:spPr>
      </p:sp>
      <p:sp>
        <p:nvSpPr>
          <p:cNvPr id="6" name="Text 3"/>
          <p:cNvSpPr/>
          <p:nvPr/>
        </p:nvSpPr>
        <p:spPr>
          <a:xfrm>
            <a:off x="326794" y="2708324"/>
            <a:ext cx="4533981" cy="2195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200" b="1" kern="0" spc="-56" dirty="0">
                <a:solidFill>
                  <a:srgbClr val="FAF8F4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KPI Overview</a:t>
            </a:r>
            <a:endParaRPr lang="en-US" sz="7200" dirty="0">
              <a:latin typeface="Georgia" panose="02040502050405020303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6794" y="5022369"/>
            <a:ext cx="4042197" cy="1152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DBEAE9"/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Task, Status, Achievements, and Next Step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143500" y="0"/>
            <a:ext cx="13144500" cy="10287000"/>
          </a:xfrm>
          <a:prstGeom prst="rect">
            <a:avLst/>
          </a:prstGeom>
          <a:solidFill>
            <a:srgbClr val="FAF8F4"/>
          </a:solidFill>
          <a:ln/>
        </p:spPr>
      </p:sp>
      <p:sp>
        <p:nvSpPr>
          <p:cNvPr id="11" name="Shape 8"/>
          <p:cNvSpPr/>
          <p:nvPr/>
        </p:nvSpPr>
        <p:spPr>
          <a:xfrm>
            <a:off x="6057846" y="838173"/>
            <a:ext cx="11315808" cy="3068700"/>
          </a:xfrm>
          <a:prstGeom prst="rect">
            <a:avLst/>
          </a:prstGeom>
          <a:solidFill>
            <a:srgbClr val="F2EFE8"/>
          </a:solidFill>
          <a:ln w="8659">
            <a:solidFill>
              <a:srgbClr val="DED8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28428" y="1827880"/>
            <a:ext cx="10574644" cy="1731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428" y="1029007"/>
            <a:ext cx="2977510" cy="4487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93867"/>
              </a:lnSpc>
              <a:buNone/>
            </a:pPr>
            <a:r>
              <a:rPr lang="en-US" sz="2400" b="1" kern="0" spc="-3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TTS Speech Control</a:t>
            </a:r>
            <a:endParaRPr lang="en-US" sz="2400" b="1" dirty="0">
              <a:latin typeface="Georgia" panose="02040502050405020303" pitchFamily="18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5F5FC5-94D2-4555-AC18-0B1D58B2E9CA}"/>
              </a:ext>
            </a:extLst>
          </p:cNvPr>
          <p:cNvGrpSpPr/>
          <p:nvPr/>
        </p:nvGrpSpPr>
        <p:grpSpPr>
          <a:xfrm>
            <a:off x="6433190" y="1477800"/>
            <a:ext cx="1195151" cy="193301"/>
            <a:chOff x="6433190" y="1477800"/>
            <a:chExt cx="1195151" cy="193301"/>
          </a:xfrm>
        </p:grpSpPr>
        <p:sp>
          <p:nvSpPr>
            <p:cNvPr id="15" name="Shape 12"/>
            <p:cNvSpPr/>
            <p:nvPr/>
          </p:nvSpPr>
          <p:spPr>
            <a:xfrm>
              <a:off x="6433190" y="1493722"/>
              <a:ext cx="159870" cy="159870"/>
            </a:xfrm>
            <a:prstGeom prst="ellipse">
              <a:avLst/>
            </a:prstGeom>
            <a:solidFill>
              <a:srgbClr val="FFC000"/>
            </a:solidFill>
            <a:ln/>
          </p:spPr>
        </p:sp>
        <p:sp>
          <p:nvSpPr>
            <p:cNvPr id="16" name="Text 13"/>
            <p:cNvSpPr/>
            <p:nvPr/>
          </p:nvSpPr>
          <p:spPr>
            <a:xfrm>
              <a:off x="6685961" y="1477800"/>
              <a:ext cx="942380" cy="1933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55000" lnSpcReduction="20000"/>
            </a:bodyPr>
            <a:lstStyle/>
            <a:p>
              <a:pPr marL="0" indent="0" algn="l">
                <a:lnSpc>
                  <a:spcPct val="132000"/>
                </a:lnSpc>
                <a:buNone/>
              </a:pPr>
              <a:r>
                <a:rPr lang="en-US" b="1" kern="0" spc="72" dirty="0">
                  <a:solidFill>
                    <a:schemeClr val="bg1">
                      <a:lumMod val="6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IN PROGRESS</a:t>
              </a:r>
              <a:endParaRPr lang="en-US" sz="1800" dirty="0">
                <a:solidFill>
                  <a:schemeClr val="bg1">
                    <a:lumMod val="6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17" name="Text 14"/>
          <p:cNvSpPr/>
          <p:nvPr/>
        </p:nvSpPr>
        <p:spPr>
          <a:xfrm>
            <a:off x="6428428" y="2054640"/>
            <a:ext cx="5627489" cy="362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45"/>
              </a:lnSpc>
              <a:buNone/>
            </a:pPr>
            <a:r>
              <a:rPr lang="en-US" sz="1600" b="1" kern="0" spc="11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ACHIEVEMENT</a:t>
            </a:r>
            <a:endParaRPr lang="en-US" sz="1600" dirty="0">
              <a:solidFill>
                <a:srgbClr val="0B5852"/>
              </a:solidFill>
              <a:latin typeface="Georgia" panose="02040502050405020303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428428" y="2493548"/>
            <a:ext cx="5192098" cy="1138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342900" indent="-342900" algn="l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Model adapts to NVV tags (e.g. [cough], [sigh])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l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Validated prosody control reliability across prompts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1720486" y="2054640"/>
            <a:ext cx="5794176" cy="362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45"/>
              </a:lnSpc>
              <a:buNone/>
            </a:pPr>
            <a:r>
              <a:rPr lang="en-US" sz="1600" b="1" kern="0" spc="11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NEXT STEP</a:t>
            </a:r>
            <a:endParaRPr lang="en-US" sz="1600" dirty="0">
              <a:solidFill>
                <a:srgbClr val="0B5852"/>
              </a:solidFill>
              <a:latin typeface="Georgia" panose="02040502050405020303" pitchFamily="18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1720485" y="2493548"/>
            <a:ext cx="5358786" cy="1138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342900" indent="-342900" algn="l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Fine-tune on larger NVV datasets, test generalization</a:t>
            </a:r>
            <a:endParaRPr lang="en-US" sz="16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l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Propose reliable prosody prompts to Dev team</a:t>
            </a:r>
            <a:endParaRPr lang="en-US" sz="16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057846" y="4154469"/>
            <a:ext cx="11315808" cy="2730590"/>
          </a:xfrm>
          <a:prstGeom prst="rect">
            <a:avLst/>
          </a:prstGeom>
          <a:solidFill>
            <a:srgbClr val="F2EFE8"/>
          </a:solidFill>
          <a:ln w="8659">
            <a:solidFill>
              <a:srgbClr val="DED8C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28428" y="5144176"/>
            <a:ext cx="10574644" cy="1731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6428428" y="4339653"/>
            <a:ext cx="3386132" cy="4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3867"/>
              </a:lnSpc>
              <a:buNone/>
            </a:pPr>
            <a:r>
              <a:rPr lang="en-US" sz="2000" b="1" kern="0" spc="-3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Diarization Performance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428428" y="5370936"/>
            <a:ext cx="5627489" cy="362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45"/>
              </a:lnSpc>
              <a:buNone/>
            </a:pPr>
            <a:r>
              <a:rPr lang="en-US" sz="1400" b="1" kern="0" spc="11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ACHIEVEMENT</a:t>
            </a:r>
            <a:endParaRPr lang="en-US" sz="1400" dirty="0">
              <a:solidFill>
                <a:srgbClr val="0B5852"/>
              </a:solidFill>
              <a:latin typeface="Georgia" panose="02040502050405020303" pitchFamily="18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6433190" y="5809844"/>
            <a:ext cx="5622727" cy="4071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400" dirty="0">
                <a:solidFill>
                  <a:srgbClr val="8C8C8A"/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No update this week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1720486" y="5370936"/>
            <a:ext cx="5794175" cy="362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45"/>
              </a:lnSpc>
              <a:buNone/>
            </a:pPr>
            <a:r>
              <a:rPr lang="en-US" sz="1400" b="1" kern="0" spc="11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NEXT STEP</a:t>
            </a:r>
            <a:endParaRPr lang="en-US" sz="1400" dirty="0">
              <a:solidFill>
                <a:srgbClr val="0B5852"/>
              </a:solidFill>
              <a:latin typeface="Georgia" panose="02040502050405020303" pitchFamily="18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11720485" y="5809844"/>
            <a:ext cx="5358786" cy="799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342900" indent="-342900" algn="l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Benchmark current diarization performance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l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Propose new model or fine-tune existing one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057846" y="7132655"/>
            <a:ext cx="11315808" cy="2337819"/>
          </a:xfrm>
          <a:prstGeom prst="rect">
            <a:avLst/>
          </a:prstGeom>
          <a:solidFill>
            <a:srgbClr val="F2EFE8"/>
          </a:solidFill>
          <a:ln w="8659">
            <a:solidFill>
              <a:srgbClr val="DED8C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28428" y="8122362"/>
            <a:ext cx="10574644" cy="1731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3" name="Text 30"/>
          <p:cNvSpPr/>
          <p:nvPr/>
        </p:nvSpPr>
        <p:spPr>
          <a:xfrm>
            <a:off x="6428428" y="7305836"/>
            <a:ext cx="1603052" cy="421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3867"/>
              </a:lnSpc>
              <a:buNone/>
            </a:pPr>
            <a:r>
              <a:rPr lang="en-US" sz="2000" b="1" kern="0" spc="-3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SmeanGPT</a:t>
            </a:r>
            <a:endParaRPr lang="en-US" sz="2000" dirty="0">
              <a:latin typeface="Georgia" panose="02040502050405020303" pitchFamily="18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433189" y="8349122"/>
            <a:ext cx="5187337" cy="362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45"/>
              </a:lnSpc>
              <a:buNone/>
            </a:pPr>
            <a:r>
              <a:rPr lang="en-US" sz="1400" b="1" kern="0" spc="11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ACHIEVEMENT</a:t>
            </a:r>
            <a:endParaRPr lang="en-US" sz="1400" dirty="0">
              <a:solidFill>
                <a:srgbClr val="0B5852"/>
              </a:solidFill>
              <a:latin typeface="Georgia" panose="02040502050405020303" pitchFamily="18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433190" y="8788030"/>
            <a:ext cx="5622727" cy="4071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No update this week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1720486" y="8349122"/>
            <a:ext cx="5794175" cy="362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45"/>
              </a:lnSpc>
              <a:buNone/>
            </a:pPr>
            <a:r>
              <a:rPr lang="en-US" sz="1400" b="1" kern="0" spc="116" dirty="0">
                <a:solidFill>
                  <a:srgbClr val="0B5852"/>
                </a:solidFill>
                <a:latin typeface="Georgia" panose="02040502050405020303" pitchFamily="18" charset="0"/>
                <a:ea typeface="Barlow Condensed" pitchFamily="34" charset="-122"/>
                <a:cs typeface="Barlow Condensed" pitchFamily="34" charset="-120"/>
              </a:rPr>
              <a:t>NEXT STEP</a:t>
            </a:r>
            <a:endParaRPr lang="en-US" sz="1400" dirty="0">
              <a:solidFill>
                <a:srgbClr val="0B5852"/>
              </a:solidFill>
              <a:latin typeface="Georgia" panose="02040502050405020303" pitchFamily="18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11887172" y="8788030"/>
            <a:ext cx="5627489" cy="4071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Barlow" pitchFamily="34" charset="-120"/>
              </a:rPr>
              <a:t>Not Decide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F3F32D0-AD68-439A-8424-0E0E4915CB94}"/>
              </a:ext>
            </a:extLst>
          </p:cNvPr>
          <p:cNvGrpSpPr/>
          <p:nvPr/>
        </p:nvGrpSpPr>
        <p:grpSpPr>
          <a:xfrm>
            <a:off x="6433190" y="4846577"/>
            <a:ext cx="1195151" cy="193301"/>
            <a:chOff x="6433190" y="1477800"/>
            <a:chExt cx="1195151" cy="193301"/>
          </a:xfrm>
        </p:grpSpPr>
        <p:sp>
          <p:nvSpPr>
            <p:cNvPr id="43" name="Shape 12">
              <a:extLst>
                <a:ext uri="{FF2B5EF4-FFF2-40B4-BE49-F238E27FC236}">
                  <a16:creationId xmlns:a16="http://schemas.microsoft.com/office/drawing/2014/main" id="{9B59C52A-65CA-4760-8C61-1E42F9D3AD3B}"/>
                </a:ext>
              </a:extLst>
            </p:cNvPr>
            <p:cNvSpPr/>
            <p:nvPr/>
          </p:nvSpPr>
          <p:spPr>
            <a:xfrm>
              <a:off x="6433190" y="1493722"/>
              <a:ext cx="159870" cy="15987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/>
          </p:spPr>
        </p:sp>
        <p:sp>
          <p:nvSpPr>
            <p:cNvPr id="44" name="Text 13">
              <a:extLst>
                <a:ext uri="{FF2B5EF4-FFF2-40B4-BE49-F238E27FC236}">
                  <a16:creationId xmlns:a16="http://schemas.microsoft.com/office/drawing/2014/main" id="{273A00C2-57C1-4F73-B2D2-4F19A6B7A9B2}"/>
                </a:ext>
              </a:extLst>
            </p:cNvPr>
            <p:cNvSpPr/>
            <p:nvPr/>
          </p:nvSpPr>
          <p:spPr>
            <a:xfrm>
              <a:off x="6685961" y="1477800"/>
              <a:ext cx="942380" cy="1933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2000"/>
                </a:lnSpc>
                <a:buNone/>
              </a:pPr>
              <a:r>
                <a:rPr lang="en-US" sz="1000" b="1" kern="0" spc="72" dirty="0">
                  <a:solidFill>
                    <a:schemeClr val="bg1">
                      <a:lumMod val="6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BACKLOG</a:t>
              </a:r>
              <a:endParaRPr lang="en-US" sz="1000" dirty="0">
                <a:solidFill>
                  <a:schemeClr val="bg1">
                    <a:lumMod val="6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1FFCCCA-2D89-49E9-A845-688A9B765AA5}"/>
              </a:ext>
            </a:extLst>
          </p:cNvPr>
          <p:cNvGrpSpPr/>
          <p:nvPr/>
        </p:nvGrpSpPr>
        <p:grpSpPr>
          <a:xfrm>
            <a:off x="6433190" y="7750461"/>
            <a:ext cx="1195151" cy="193301"/>
            <a:chOff x="6433190" y="1477800"/>
            <a:chExt cx="1195151" cy="193301"/>
          </a:xfrm>
        </p:grpSpPr>
        <p:sp>
          <p:nvSpPr>
            <p:cNvPr id="46" name="Shape 12">
              <a:extLst>
                <a:ext uri="{FF2B5EF4-FFF2-40B4-BE49-F238E27FC236}">
                  <a16:creationId xmlns:a16="http://schemas.microsoft.com/office/drawing/2014/main" id="{38C31E93-9902-4C5F-8F8D-B81358A935DE}"/>
                </a:ext>
              </a:extLst>
            </p:cNvPr>
            <p:cNvSpPr/>
            <p:nvPr/>
          </p:nvSpPr>
          <p:spPr>
            <a:xfrm>
              <a:off x="6433190" y="1493722"/>
              <a:ext cx="159870" cy="15987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/>
          </p:spPr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7E431139-32D1-492E-B6A6-5702A26FD0F2}"/>
                </a:ext>
              </a:extLst>
            </p:cNvPr>
            <p:cNvSpPr/>
            <p:nvPr/>
          </p:nvSpPr>
          <p:spPr>
            <a:xfrm>
              <a:off x="6685961" y="1477800"/>
              <a:ext cx="942380" cy="1933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2000"/>
                </a:lnSpc>
                <a:buNone/>
              </a:pPr>
              <a:r>
                <a:rPr lang="en-US" sz="1000" b="1" kern="0" spc="72" dirty="0">
                  <a:solidFill>
                    <a:schemeClr val="bg1">
                      <a:lumMod val="6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BACKLOG</a:t>
              </a:r>
              <a:endParaRPr lang="en-US" sz="1000" dirty="0">
                <a:solidFill>
                  <a:schemeClr val="bg1">
                    <a:lumMod val="6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083B37"/>
          </a:solidFill>
          <a:ln/>
        </p:spPr>
      </p:sp>
      <p:sp>
        <p:nvSpPr>
          <p:cNvPr id="6" name="Text 3"/>
          <p:cNvSpPr/>
          <p:nvPr/>
        </p:nvSpPr>
        <p:spPr>
          <a:xfrm>
            <a:off x="326794" y="2708324"/>
            <a:ext cx="4533981" cy="32098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200" b="1" kern="0" spc="-56" dirty="0">
                <a:solidFill>
                  <a:srgbClr val="FAF8F4"/>
                </a:solidFill>
                <a:latin typeface="Georgia" panose="02040502050405020303" pitchFamily="18" charset="0"/>
                <a:ea typeface="Barlow Condensed" pitchFamily="34" charset="-122"/>
              </a:rPr>
              <a:t>TTS Speech Control</a:t>
            </a:r>
            <a:endParaRPr lang="en-US" sz="7200" dirty="0">
              <a:latin typeface="Georgia" panose="02040502050405020303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6794" y="6327295"/>
            <a:ext cx="4533981" cy="772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DBEAE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Making Smean’s TTS sound more like human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E41674B-3A28-4A10-BE8B-919C3E3A4D31}"/>
              </a:ext>
            </a:extLst>
          </p:cNvPr>
          <p:cNvGrpSpPr/>
          <p:nvPr/>
        </p:nvGrpSpPr>
        <p:grpSpPr>
          <a:xfrm>
            <a:off x="5550794" y="832167"/>
            <a:ext cx="9092485" cy="867471"/>
            <a:chOff x="5550794" y="437377"/>
            <a:chExt cx="9092485" cy="867471"/>
          </a:xfrm>
        </p:grpSpPr>
        <p:sp>
          <p:nvSpPr>
            <p:cNvPr id="36" name="Text 10">
              <a:extLst>
                <a:ext uri="{FF2B5EF4-FFF2-40B4-BE49-F238E27FC236}">
                  <a16:creationId xmlns:a16="http://schemas.microsoft.com/office/drawing/2014/main" id="{653710F3-73F0-4CC1-9253-3E1A5D14AAF0}"/>
                </a:ext>
              </a:extLst>
            </p:cNvPr>
            <p:cNvSpPr/>
            <p:nvPr/>
          </p:nvSpPr>
          <p:spPr>
            <a:xfrm>
              <a:off x="5550794" y="437377"/>
              <a:ext cx="9092485" cy="82085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93867"/>
                </a:lnSpc>
                <a:buNone/>
              </a:pPr>
              <a:r>
                <a:rPr lang="en-US" sz="4800" b="1" kern="0" spc="-36" dirty="0">
                  <a:solidFill>
                    <a:srgbClr val="0B5852"/>
                  </a:solidFill>
                  <a:latin typeface="Georgia" panose="02040502050405020303" pitchFamily="18" charset="0"/>
                  <a:ea typeface="Barlow Condensed" pitchFamily="34" charset="-122"/>
                  <a:cs typeface="Barlow Condensed" pitchFamily="34" charset="-120"/>
                </a:rPr>
                <a:t>What is Speech Control?</a:t>
              </a:r>
              <a:endParaRPr lang="en-US" sz="4800" b="1" dirty="0">
                <a:latin typeface="Georgia" panose="02040502050405020303" pitchFamily="18" charset="0"/>
              </a:endParaRPr>
            </a:p>
          </p:txBody>
        </p:sp>
        <p:sp>
          <p:nvSpPr>
            <p:cNvPr id="48" name="Shape 1">
              <a:extLst>
                <a:ext uri="{FF2B5EF4-FFF2-40B4-BE49-F238E27FC236}">
                  <a16:creationId xmlns:a16="http://schemas.microsoft.com/office/drawing/2014/main" id="{D062D97B-2B0C-4CB5-8535-9E819970BA10}"/>
                </a:ext>
              </a:extLst>
            </p:cNvPr>
            <p:cNvSpPr/>
            <p:nvPr/>
          </p:nvSpPr>
          <p:spPr>
            <a:xfrm>
              <a:off x="5550794" y="1258232"/>
              <a:ext cx="7593708" cy="46616"/>
            </a:xfrm>
            <a:prstGeom prst="rect">
              <a:avLst/>
            </a:prstGeom>
            <a:solidFill>
              <a:srgbClr val="0B5852"/>
            </a:solidFill>
            <a:ln/>
          </p:spPr>
        </p:sp>
      </p:grpSp>
      <p:sp>
        <p:nvSpPr>
          <p:cNvPr id="49" name="Text 15">
            <a:extLst>
              <a:ext uri="{FF2B5EF4-FFF2-40B4-BE49-F238E27FC236}">
                <a16:creationId xmlns:a16="http://schemas.microsoft.com/office/drawing/2014/main" id="{C9E8AE17-32CC-44AB-B5E7-C3AC16950915}"/>
              </a:ext>
            </a:extLst>
          </p:cNvPr>
          <p:cNvSpPr/>
          <p:nvPr/>
        </p:nvSpPr>
        <p:spPr>
          <a:xfrm>
            <a:off x="5550794" y="1968091"/>
            <a:ext cx="11213206" cy="23508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Speech control refer to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three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distinct capability of controlling speech: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Prosody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Emotion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and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Non-verbal Vocalization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algn="l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l">
              <a:lnSpc>
                <a:spcPct val="114853"/>
              </a:lnSpc>
            </a:pP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Prosody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covers rates, pitch, loudness, and variation.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Emotion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 the state conveyed, by delivery such as, neutral, happy, sad or surprised. Emotion can be overlap with prosody variation. Lastly,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Non-verbal Vocalization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which encompasses sound such as, ah, uhm, or an action like coughing, or laughing.</a:t>
            </a:r>
          </a:p>
          <a:p>
            <a:pPr algn="l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l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EA82C51-BB44-4B16-BA11-41915137BC5B}"/>
              </a:ext>
            </a:extLst>
          </p:cNvPr>
          <p:cNvGrpSpPr/>
          <p:nvPr/>
        </p:nvGrpSpPr>
        <p:grpSpPr>
          <a:xfrm>
            <a:off x="5550794" y="5584238"/>
            <a:ext cx="12258235" cy="867471"/>
            <a:chOff x="5550794" y="437377"/>
            <a:chExt cx="9092485" cy="867471"/>
          </a:xfrm>
        </p:grpSpPr>
        <p:sp>
          <p:nvSpPr>
            <p:cNvPr id="51" name="Text 10">
              <a:extLst>
                <a:ext uri="{FF2B5EF4-FFF2-40B4-BE49-F238E27FC236}">
                  <a16:creationId xmlns:a16="http://schemas.microsoft.com/office/drawing/2014/main" id="{8F0C4635-1AC1-41F9-9AE0-F81AC2CFB7EB}"/>
                </a:ext>
              </a:extLst>
            </p:cNvPr>
            <p:cNvSpPr/>
            <p:nvPr/>
          </p:nvSpPr>
          <p:spPr>
            <a:xfrm>
              <a:off x="5550794" y="437377"/>
              <a:ext cx="9092485" cy="82085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93867"/>
                </a:lnSpc>
                <a:buNone/>
              </a:pPr>
              <a:r>
                <a:rPr lang="en-US" sz="4800" b="1" kern="0" spc="-36" dirty="0">
                  <a:solidFill>
                    <a:srgbClr val="0B5852"/>
                  </a:solidFill>
                  <a:latin typeface="Georgia" panose="02040502050405020303" pitchFamily="18" charset="0"/>
                  <a:ea typeface="Barlow Condensed" pitchFamily="34" charset="-122"/>
                  <a:cs typeface="Barlow Condensed" pitchFamily="34" charset="-120"/>
                </a:rPr>
                <a:t>Why do we need Speech Control?</a:t>
              </a:r>
              <a:endParaRPr lang="en-US" sz="4800" b="1" dirty="0">
                <a:latin typeface="Georgia" panose="02040502050405020303" pitchFamily="18" charset="0"/>
              </a:endParaRPr>
            </a:p>
          </p:txBody>
        </p:sp>
        <p:sp>
          <p:nvSpPr>
            <p:cNvPr id="52" name="Shape 1">
              <a:extLst>
                <a:ext uri="{FF2B5EF4-FFF2-40B4-BE49-F238E27FC236}">
                  <a16:creationId xmlns:a16="http://schemas.microsoft.com/office/drawing/2014/main" id="{7414F57E-8F6F-4F9B-988B-86FA635FC760}"/>
                </a:ext>
              </a:extLst>
            </p:cNvPr>
            <p:cNvSpPr/>
            <p:nvPr/>
          </p:nvSpPr>
          <p:spPr>
            <a:xfrm>
              <a:off x="5550794" y="1258232"/>
              <a:ext cx="7593708" cy="46616"/>
            </a:xfrm>
            <a:prstGeom prst="rect">
              <a:avLst/>
            </a:prstGeom>
            <a:solidFill>
              <a:srgbClr val="0B5852"/>
            </a:solidFill>
            <a:ln/>
          </p:spPr>
        </p:sp>
      </p:grpSp>
      <p:sp>
        <p:nvSpPr>
          <p:cNvPr id="53" name="Text 15">
            <a:extLst>
              <a:ext uri="{FF2B5EF4-FFF2-40B4-BE49-F238E27FC236}">
                <a16:creationId xmlns:a16="http://schemas.microsoft.com/office/drawing/2014/main" id="{E506F420-65EF-4712-AEA1-177935C198E3}"/>
              </a:ext>
            </a:extLst>
          </p:cNvPr>
          <p:cNvSpPr/>
          <p:nvPr/>
        </p:nvSpPr>
        <p:spPr>
          <a:xfrm>
            <a:off x="5550794" y="6841820"/>
            <a:ext cx="11213206" cy="23508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Converting text into speech is one part of Smean TTS, but in order to convey those speech into a natural sounding tone, or embed intonation into those speech, we need control over those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three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distinct capability as mentioned above. </a:t>
            </a:r>
          </a:p>
          <a:p>
            <a:pPr algn="l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l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Hence this project will work toward enhancing speech control capability in Smean TTS.</a:t>
            </a:r>
          </a:p>
        </p:txBody>
      </p:sp>
    </p:spTree>
    <p:extLst>
      <p:ext uri="{BB962C8B-B14F-4D97-AF65-F5344CB8AC3E}">
        <p14:creationId xmlns:p14="http://schemas.microsoft.com/office/powerpoint/2010/main" val="672894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E41674B-3A28-4A10-BE8B-919C3E3A4D31}"/>
              </a:ext>
            </a:extLst>
          </p:cNvPr>
          <p:cNvGrpSpPr/>
          <p:nvPr/>
        </p:nvGrpSpPr>
        <p:grpSpPr>
          <a:xfrm>
            <a:off x="688508" y="832167"/>
            <a:ext cx="7468521" cy="867471"/>
            <a:chOff x="5550794" y="437377"/>
            <a:chExt cx="9092485" cy="867471"/>
          </a:xfrm>
        </p:grpSpPr>
        <p:sp>
          <p:nvSpPr>
            <p:cNvPr id="36" name="Text 10">
              <a:extLst>
                <a:ext uri="{FF2B5EF4-FFF2-40B4-BE49-F238E27FC236}">
                  <a16:creationId xmlns:a16="http://schemas.microsoft.com/office/drawing/2014/main" id="{653710F3-73F0-4CC1-9253-3E1A5D14AAF0}"/>
                </a:ext>
              </a:extLst>
            </p:cNvPr>
            <p:cNvSpPr/>
            <p:nvPr/>
          </p:nvSpPr>
          <p:spPr>
            <a:xfrm>
              <a:off x="5550794" y="437377"/>
              <a:ext cx="9092485" cy="82085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93867"/>
                </a:lnSpc>
                <a:buNone/>
              </a:pPr>
              <a:r>
                <a:rPr lang="en-US" sz="4800" b="1" kern="0" spc="-36" dirty="0">
                  <a:solidFill>
                    <a:srgbClr val="0B5852"/>
                  </a:solidFill>
                  <a:latin typeface="Georgia" panose="02040502050405020303" pitchFamily="18" charset="0"/>
                  <a:ea typeface="Barlow Condensed" pitchFamily="34" charset="-122"/>
                  <a:cs typeface="Barlow Condensed" pitchFamily="34" charset="-120"/>
                </a:rPr>
                <a:t>Current Smean TTS</a:t>
              </a:r>
              <a:endParaRPr lang="en-US" sz="4800" b="1" dirty="0">
                <a:latin typeface="Georgia" panose="02040502050405020303" pitchFamily="18" charset="0"/>
              </a:endParaRPr>
            </a:p>
          </p:txBody>
        </p:sp>
        <p:sp>
          <p:nvSpPr>
            <p:cNvPr id="48" name="Shape 1">
              <a:extLst>
                <a:ext uri="{FF2B5EF4-FFF2-40B4-BE49-F238E27FC236}">
                  <a16:creationId xmlns:a16="http://schemas.microsoft.com/office/drawing/2014/main" id="{D062D97B-2B0C-4CB5-8535-9E819970BA10}"/>
                </a:ext>
              </a:extLst>
            </p:cNvPr>
            <p:cNvSpPr/>
            <p:nvPr/>
          </p:nvSpPr>
          <p:spPr>
            <a:xfrm>
              <a:off x="5550794" y="1258232"/>
              <a:ext cx="7593708" cy="46616"/>
            </a:xfrm>
            <a:prstGeom prst="rect">
              <a:avLst/>
            </a:prstGeom>
            <a:solidFill>
              <a:srgbClr val="0B5852"/>
            </a:solidFill>
            <a:ln/>
          </p:spPr>
        </p:sp>
      </p:grpSp>
      <p:sp>
        <p:nvSpPr>
          <p:cNvPr id="14" name="Text 15">
            <a:extLst>
              <a:ext uri="{FF2B5EF4-FFF2-40B4-BE49-F238E27FC236}">
                <a16:creationId xmlns:a16="http://schemas.microsoft.com/office/drawing/2014/main" id="{B8D43ECD-AECF-4931-84AA-1C37E6ACE5E7}"/>
              </a:ext>
            </a:extLst>
          </p:cNvPr>
          <p:cNvSpPr/>
          <p:nvPr/>
        </p:nvSpPr>
        <p:spPr>
          <a:xfrm>
            <a:off x="840908" y="8424647"/>
            <a:ext cx="7939792" cy="11883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VoxCPM2 documented tags:</a:t>
            </a:r>
          </a:p>
          <a:p>
            <a:endParaRPr lang="en-US" sz="1600" i="1" dirty="0">
              <a:solidFill>
                <a:schemeClr val="bg2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[laughing]   [laughter]   [sigh]   [Uhm]   [Shh]   [Question-ah]   [Question-</a:t>
            </a:r>
            <a:r>
              <a:rPr lang="en-US" sz="1600" i="1" dirty="0" err="1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</a:t>
            </a: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]   [Question-</a:t>
            </a:r>
            <a:r>
              <a:rPr lang="en-US" sz="1600" i="1" dirty="0" err="1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</a:t>
            </a: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]   [Question-oh]   [Surprise-</a:t>
            </a:r>
            <a:r>
              <a:rPr lang="en-US" sz="1600" i="1" dirty="0" err="1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wa</a:t>
            </a: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]   [Surprise-</a:t>
            </a:r>
            <a:r>
              <a:rPr lang="en-US" sz="1600" i="1" dirty="0" err="1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yo</a:t>
            </a: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]   [Dissatisfaction-</a:t>
            </a:r>
            <a:r>
              <a:rPr lang="en-US" sz="1600" i="1" dirty="0" err="1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hnn</a:t>
            </a: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]</a:t>
            </a:r>
          </a:p>
        </p:txBody>
      </p:sp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A17E3261-8FE9-48CE-8C7C-73316F2F37CC}"/>
              </a:ext>
            </a:extLst>
          </p:cNvPr>
          <p:cNvGrpSpPr/>
          <p:nvPr/>
        </p:nvGrpSpPr>
        <p:grpSpPr>
          <a:xfrm>
            <a:off x="9285668" y="1733968"/>
            <a:ext cx="8313824" cy="6819064"/>
            <a:chOff x="11539582" y="1968091"/>
            <a:chExt cx="6059910" cy="4970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522BBE-CFBF-44B7-B010-B5BCDEA96DA3}"/>
                </a:ext>
              </a:extLst>
            </p:cNvPr>
            <p:cNvSpPr/>
            <p:nvPr/>
          </p:nvSpPr>
          <p:spPr>
            <a:xfrm>
              <a:off x="13379979" y="3290137"/>
              <a:ext cx="2616200" cy="1405368"/>
            </a:xfrm>
            <a:prstGeom prst="roundRect">
              <a:avLst/>
            </a:prstGeom>
            <a:solidFill>
              <a:srgbClr val="0B58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latin typeface="Cambria" panose="02040503050406030204" pitchFamily="18" charset="0"/>
                  <a:ea typeface="Cambria" panose="02040503050406030204" pitchFamily="18" charset="0"/>
                </a:rPr>
                <a:t>VoxCPM2</a:t>
              </a:r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0DD4FB39-2E53-4EF7-BB7D-0867E61A9675}"/>
                </a:ext>
              </a:extLst>
            </p:cNvPr>
            <p:cNvSpPr/>
            <p:nvPr/>
          </p:nvSpPr>
          <p:spPr>
            <a:xfrm>
              <a:off x="15582900" y="5535317"/>
              <a:ext cx="2016592" cy="50496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just">
                <a:lnSpc>
                  <a:spcPct val="114853"/>
                </a:lnSpc>
              </a:pPr>
              <a:r>
                <a:rPr lang="en-US" sz="1600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The fox jump over the fence…</a:t>
              </a: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4CBD2806-F37E-4CBB-AEBB-48BBBB5C63F5}"/>
                </a:ext>
              </a:extLst>
            </p:cNvPr>
            <p:cNvSpPr/>
            <p:nvPr/>
          </p:nvSpPr>
          <p:spPr>
            <a:xfrm>
              <a:off x="11539582" y="5545472"/>
              <a:ext cx="2562483" cy="50496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algn="just">
                <a:lnSpc>
                  <a:spcPct val="114853"/>
                </a:lnSpc>
              </a:pPr>
              <a:r>
                <a:rPr lang="en-US" sz="1600" b="1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(</a:t>
              </a:r>
              <a:r>
                <a:rPr lang="en-US" altLang="en-US" sz="1600" b="1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Speaking slowly with a whispering, mysterious tone </a:t>
              </a:r>
              <a:r>
                <a:rPr lang="en-US" sz="1600" b="1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) </a:t>
              </a:r>
              <a:r>
                <a:rPr lang="en-US" sz="1600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The fox jump over the fence…</a:t>
              </a:r>
            </a:p>
          </p:txBody>
        </p:sp>
        <p:sp>
          <p:nvSpPr>
            <p:cNvPr id="21" name="Text 15">
              <a:extLst>
                <a:ext uri="{FF2B5EF4-FFF2-40B4-BE49-F238E27FC236}">
                  <a16:creationId xmlns:a16="http://schemas.microsoft.com/office/drawing/2014/main" id="{A68D7BD5-8B2B-41F3-96C1-890497AB4B1E}"/>
                </a:ext>
              </a:extLst>
            </p:cNvPr>
            <p:cNvSpPr/>
            <p:nvPr/>
          </p:nvSpPr>
          <p:spPr>
            <a:xfrm>
              <a:off x="13379980" y="6433515"/>
              <a:ext cx="2616200" cy="50496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just">
                <a:lnSpc>
                  <a:spcPct val="114853"/>
                </a:lnSpc>
              </a:pPr>
              <a:r>
                <a:rPr lang="en-US" sz="1600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The fox jump </a:t>
              </a:r>
              <a:r>
                <a:rPr lang="en-US" sz="1600" b="1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[laughing] </a:t>
              </a:r>
              <a:r>
                <a:rPr lang="en-US" sz="1600" dirty="0">
                  <a:solidFill>
                    <a:schemeClr val="bg2">
                      <a:lumMod val="2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over the fence…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36295332-B834-4731-B42D-DE333D7803E1}"/>
                </a:ext>
              </a:extLst>
            </p:cNvPr>
            <p:cNvCxnSpPr>
              <a:cxnSpLocks/>
              <a:stCxn id="21" idx="0"/>
              <a:endCxn id="4" idx="2"/>
            </p:cNvCxnSpPr>
            <p:nvPr/>
          </p:nvCxnSpPr>
          <p:spPr>
            <a:xfrm rot="16200000" flipV="1">
              <a:off x="13819075" y="5564509"/>
              <a:ext cx="1738010" cy="1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B585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1C10DD9D-D14F-45C6-AF63-C1913E5598A7}"/>
                </a:ext>
              </a:extLst>
            </p:cNvPr>
            <p:cNvCxnSpPr>
              <a:cxnSpLocks/>
              <a:stCxn id="16" idx="0"/>
              <a:endCxn id="4" idx="2"/>
            </p:cNvCxnSpPr>
            <p:nvPr/>
          </p:nvCxnSpPr>
          <p:spPr>
            <a:xfrm rot="16200000" flipV="1">
              <a:off x="15219732" y="4163852"/>
              <a:ext cx="839812" cy="1903117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B585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0DFEBBEF-D177-4E2F-81C3-E92C5F796496}"/>
                </a:ext>
              </a:extLst>
            </p:cNvPr>
            <p:cNvCxnSpPr>
              <a:cxnSpLocks/>
              <a:stCxn id="17" idx="0"/>
              <a:endCxn id="4" idx="2"/>
            </p:cNvCxnSpPr>
            <p:nvPr/>
          </p:nvCxnSpPr>
          <p:spPr>
            <a:xfrm rot="5400000" flipH="1" flipV="1">
              <a:off x="13329468" y="4186862"/>
              <a:ext cx="849967" cy="1867255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B585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7BB8CFD4-CF01-4214-8E43-EE911105E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1579560" y="3712043"/>
              <a:ext cx="1038258" cy="554711"/>
            </a:xfrm>
            <a:prstGeom prst="rect">
              <a:avLst/>
            </a:prstGeom>
          </p:spPr>
        </p:pic>
        <p:cxnSp>
          <p:nvCxnSpPr>
            <p:cNvPr id="1030" name="Straight Arrow Connector 1029">
              <a:extLst>
                <a:ext uri="{FF2B5EF4-FFF2-40B4-BE49-F238E27FC236}">
                  <a16:creationId xmlns:a16="http://schemas.microsoft.com/office/drawing/2014/main" id="{8E2D0634-79C0-49BE-9061-3F178FCCB6A7}"/>
                </a:ext>
              </a:extLst>
            </p:cNvPr>
            <p:cNvCxnSpPr>
              <a:cxnSpLocks/>
              <a:stCxn id="58" idx="3"/>
              <a:endCxn id="4" idx="1"/>
            </p:cNvCxnSpPr>
            <p:nvPr/>
          </p:nvCxnSpPr>
          <p:spPr>
            <a:xfrm>
              <a:off x="12617818" y="3989399"/>
              <a:ext cx="762161" cy="3422"/>
            </a:xfrm>
            <a:prstGeom prst="straightConnector1">
              <a:avLst/>
            </a:prstGeom>
            <a:ln>
              <a:solidFill>
                <a:srgbClr val="0B585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4" name="Graphic 73">
              <a:extLst>
                <a:ext uri="{FF2B5EF4-FFF2-40B4-BE49-F238E27FC236}">
                  <a16:creationId xmlns:a16="http://schemas.microsoft.com/office/drawing/2014/main" id="{5D95AEFB-84DB-425D-BE9A-C7508D9BF5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14168950" y="1968091"/>
              <a:ext cx="1038258" cy="554711"/>
            </a:xfrm>
            <a:prstGeom prst="rect">
              <a:avLst/>
            </a:prstGeom>
          </p:spPr>
        </p:pic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D7F6B49D-D52F-4688-B4F4-85E5B21B5D51}"/>
                </a:ext>
              </a:extLst>
            </p:cNvPr>
            <p:cNvCxnSpPr>
              <a:cxnSpLocks/>
              <a:stCxn id="4" idx="0"/>
              <a:endCxn id="74" idx="2"/>
            </p:cNvCxnSpPr>
            <p:nvPr/>
          </p:nvCxnSpPr>
          <p:spPr>
            <a:xfrm flipV="1">
              <a:off x="14688079" y="2522802"/>
              <a:ext cx="0" cy="767335"/>
            </a:xfrm>
            <a:prstGeom prst="straightConnector1">
              <a:avLst/>
            </a:prstGeom>
            <a:ln>
              <a:solidFill>
                <a:srgbClr val="0B585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 15">
              <a:extLst>
                <a:ext uri="{FF2B5EF4-FFF2-40B4-BE49-F238E27FC236}">
                  <a16:creationId xmlns:a16="http://schemas.microsoft.com/office/drawing/2014/main" id="{492FDDD4-E334-4B26-A223-3D94AFB58D28}"/>
                </a:ext>
              </a:extLst>
            </p:cNvPr>
            <p:cNvSpPr/>
            <p:nvPr/>
          </p:nvSpPr>
          <p:spPr>
            <a:xfrm>
              <a:off x="14813009" y="2522802"/>
              <a:ext cx="653763" cy="28355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algn="just">
                <a:lnSpc>
                  <a:spcPct val="114853"/>
                </a:lnSpc>
              </a:pPr>
              <a:r>
                <a:rPr lang="en-US" sz="1600" i="1" dirty="0">
                  <a:solidFill>
                    <a:schemeClr val="bg2">
                      <a:lumMod val="7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Output</a:t>
              </a:r>
            </a:p>
          </p:txBody>
        </p:sp>
        <p:sp>
          <p:nvSpPr>
            <p:cNvPr id="82" name="Text 15">
              <a:extLst>
                <a:ext uri="{FF2B5EF4-FFF2-40B4-BE49-F238E27FC236}">
                  <a16:creationId xmlns:a16="http://schemas.microsoft.com/office/drawing/2014/main" id="{6EA26DEF-FDAF-460F-ADFF-110C713DD1FB}"/>
                </a:ext>
              </a:extLst>
            </p:cNvPr>
            <p:cNvSpPr/>
            <p:nvPr/>
          </p:nvSpPr>
          <p:spPr>
            <a:xfrm>
              <a:off x="11964055" y="4276372"/>
              <a:ext cx="653763" cy="28355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algn="just">
                <a:lnSpc>
                  <a:spcPct val="114853"/>
                </a:lnSpc>
              </a:pPr>
              <a:r>
                <a:rPr lang="en-US" sz="1600" i="1" dirty="0">
                  <a:solidFill>
                    <a:schemeClr val="bg2">
                      <a:lumMod val="75000"/>
                    </a:schemeClr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Input</a:t>
              </a:r>
            </a:p>
          </p:txBody>
        </p:sp>
      </p:grpSp>
      <p:sp>
        <p:nvSpPr>
          <p:cNvPr id="84" name="Text 15">
            <a:extLst>
              <a:ext uri="{FF2B5EF4-FFF2-40B4-BE49-F238E27FC236}">
                <a16:creationId xmlns:a16="http://schemas.microsoft.com/office/drawing/2014/main" id="{72DAF89B-2C80-464F-8314-F4672583D38D}"/>
              </a:ext>
            </a:extLst>
          </p:cNvPr>
          <p:cNvSpPr/>
          <p:nvPr/>
        </p:nvSpPr>
        <p:spPr>
          <a:xfrm>
            <a:off x="12478966" y="8629786"/>
            <a:ext cx="2252491" cy="389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>
              <a:lnSpc>
                <a:spcPct val="114853"/>
              </a:lnSpc>
            </a:pP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Non-verbal Vocalization</a:t>
            </a:r>
          </a:p>
        </p:txBody>
      </p:sp>
      <p:sp>
        <p:nvSpPr>
          <p:cNvPr id="85" name="Text 15">
            <a:extLst>
              <a:ext uri="{FF2B5EF4-FFF2-40B4-BE49-F238E27FC236}">
                <a16:creationId xmlns:a16="http://schemas.microsoft.com/office/drawing/2014/main" id="{1A367781-7D1D-4F63-AEB6-1C94573AFB9B}"/>
              </a:ext>
            </a:extLst>
          </p:cNvPr>
          <p:cNvSpPr/>
          <p:nvPr/>
        </p:nvSpPr>
        <p:spPr>
          <a:xfrm>
            <a:off x="9868008" y="7471239"/>
            <a:ext cx="2252491" cy="389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>
              <a:lnSpc>
                <a:spcPct val="114853"/>
              </a:lnSpc>
            </a:pP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Voice design</a:t>
            </a: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6EA4A20B-3C84-40B7-88C2-55DD9C23B061}"/>
              </a:ext>
            </a:extLst>
          </p:cNvPr>
          <p:cNvSpPr/>
          <p:nvPr/>
        </p:nvSpPr>
        <p:spPr>
          <a:xfrm>
            <a:off x="14948836" y="7471238"/>
            <a:ext cx="2252491" cy="389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>
              <a:lnSpc>
                <a:spcPct val="114853"/>
              </a:lnSpc>
            </a:pP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Plain</a:t>
            </a:r>
          </a:p>
        </p:txBody>
      </p:sp>
      <p:sp>
        <p:nvSpPr>
          <p:cNvPr id="87" name="Shape 0">
            <a:extLst>
              <a:ext uri="{FF2B5EF4-FFF2-40B4-BE49-F238E27FC236}">
                <a16:creationId xmlns:a16="http://schemas.microsoft.com/office/drawing/2014/main" id="{D0E0CC4D-0857-4350-BEF7-5F0684DE29AA}"/>
              </a:ext>
            </a:extLst>
          </p:cNvPr>
          <p:cNvSpPr/>
          <p:nvPr/>
        </p:nvSpPr>
        <p:spPr>
          <a:xfrm>
            <a:off x="0" y="9897984"/>
            <a:ext cx="18288000" cy="389016"/>
          </a:xfrm>
          <a:prstGeom prst="rect">
            <a:avLst/>
          </a:prstGeom>
          <a:solidFill>
            <a:srgbClr val="083B37"/>
          </a:solidFill>
          <a:ln/>
        </p:spPr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39E28FF8-2A33-44DA-9A9E-F52A3A512C20}"/>
              </a:ext>
            </a:extLst>
          </p:cNvPr>
          <p:cNvSpPr/>
          <p:nvPr/>
        </p:nvSpPr>
        <p:spPr>
          <a:xfrm>
            <a:off x="840908" y="2120491"/>
            <a:ext cx="7939792" cy="6304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Smean currently uses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VoxCPM2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as a base model. VoxCPM2 is trained on over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1.8M hours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of audio scraped from the internet. It includes capability such as,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language switching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non-verbal tagging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voice design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and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voice cloning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Since VoxCPM2 is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not conditionally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trained on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non-verbal tags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it cannot reliably and consistently produce those sound. There are currently 11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hlinkClick r:id="rId6"/>
              </a:rPr>
              <a:t>documented tags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but VoxCPM2 is not limited to only those tags, there may be more tags out there that VoxCPM2 can operate on, but not just as consistently.</a:t>
            </a: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Aside from non-verbal tags, VoxCPM2’s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prosody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setting can be reliably controlled through prompt, using the “parenthesis function”. For example, we can control the speaker’s pitch through the usage of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(a high-pitched voice),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speaking rate using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(speaking quickly).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We just have to find the right prompt that can consistently control the model’s prosody.</a:t>
            </a: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1227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E41674B-3A28-4A10-BE8B-919C3E3A4D31}"/>
              </a:ext>
            </a:extLst>
          </p:cNvPr>
          <p:cNvGrpSpPr/>
          <p:nvPr/>
        </p:nvGrpSpPr>
        <p:grpSpPr>
          <a:xfrm>
            <a:off x="688509" y="832167"/>
            <a:ext cx="9152178" cy="1649849"/>
            <a:chOff x="5550794" y="437377"/>
            <a:chExt cx="9092485" cy="1649849"/>
          </a:xfrm>
        </p:grpSpPr>
        <p:sp>
          <p:nvSpPr>
            <p:cNvPr id="36" name="Text 10">
              <a:extLst>
                <a:ext uri="{FF2B5EF4-FFF2-40B4-BE49-F238E27FC236}">
                  <a16:creationId xmlns:a16="http://schemas.microsoft.com/office/drawing/2014/main" id="{653710F3-73F0-4CC1-9253-3E1A5D14AAF0}"/>
                </a:ext>
              </a:extLst>
            </p:cNvPr>
            <p:cNvSpPr/>
            <p:nvPr/>
          </p:nvSpPr>
          <p:spPr>
            <a:xfrm>
              <a:off x="5550794" y="437377"/>
              <a:ext cx="9092485" cy="82085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93867"/>
                </a:lnSpc>
                <a:buNone/>
              </a:pPr>
              <a:r>
                <a:rPr lang="en-US" sz="4800" b="1" kern="0" spc="-36" dirty="0">
                  <a:solidFill>
                    <a:srgbClr val="0B5852"/>
                  </a:solidFill>
                  <a:latin typeface="Georgia" panose="02040502050405020303" pitchFamily="18" charset="0"/>
                  <a:ea typeface="Barlow Condensed" pitchFamily="34" charset="-122"/>
                  <a:cs typeface="Barlow Condensed" pitchFamily="34" charset="-120"/>
                </a:rPr>
                <a:t>Can Smean TTS Be Taught to Conditioned on Tags?</a:t>
              </a:r>
              <a:endParaRPr lang="en-US" sz="4800" b="1" dirty="0">
                <a:latin typeface="Georgia" panose="02040502050405020303" pitchFamily="18" charset="0"/>
              </a:endParaRPr>
            </a:p>
          </p:txBody>
        </p:sp>
        <p:sp>
          <p:nvSpPr>
            <p:cNvPr id="48" name="Shape 1">
              <a:extLst>
                <a:ext uri="{FF2B5EF4-FFF2-40B4-BE49-F238E27FC236}">
                  <a16:creationId xmlns:a16="http://schemas.microsoft.com/office/drawing/2014/main" id="{D062D97B-2B0C-4CB5-8535-9E819970BA10}"/>
                </a:ext>
              </a:extLst>
            </p:cNvPr>
            <p:cNvSpPr/>
            <p:nvPr/>
          </p:nvSpPr>
          <p:spPr>
            <a:xfrm>
              <a:off x="5550794" y="2032472"/>
              <a:ext cx="8919448" cy="54754"/>
            </a:xfrm>
            <a:prstGeom prst="rect">
              <a:avLst/>
            </a:prstGeom>
            <a:solidFill>
              <a:srgbClr val="0B5852"/>
            </a:solidFill>
            <a:ln/>
          </p:spPr>
        </p:sp>
      </p:grpSp>
      <p:sp>
        <p:nvSpPr>
          <p:cNvPr id="87" name="Shape 0">
            <a:extLst>
              <a:ext uri="{FF2B5EF4-FFF2-40B4-BE49-F238E27FC236}">
                <a16:creationId xmlns:a16="http://schemas.microsoft.com/office/drawing/2014/main" id="{D0E0CC4D-0857-4350-BEF7-5F0684DE29AA}"/>
              </a:ext>
            </a:extLst>
          </p:cNvPr>
          <p:cNvSpPr/>
          <p:nvPr/>
        </p:nvSpPr>
        <p:spPr>
          <a:xfrm>
            <a:off x="0" y="9897984"/>
            <a:ext cx="18288000" cy="389016"/>
          </a:xfrm>
          <a:prstGeom prst="rect">
            <a:avLst/>
          </a:prstGeom>
          <a:solidFill>
            <a:srgbClr val="083B37"/>
          </a:solidFill>
          <a:ln/>
        </p:spPr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39E28FF8-2A33-44DA-9A9E-F52A3A512C20}"/>
              </a:ext>
            </a:extLst>
          </p:cNvPr>
          <p:cNvSpPr/>
          <p:nvPr/>
        </p:nvSpPr>
        <p:spPr>
          <a:xfrm>
            <a:off x="840907" y="2766933"/>
            <a:ext cx="9869714" cy="1286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 had finetuned Smean TTS on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3.51hr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of tagged English speech derived from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NonVerbalTTS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dataset, and has evaluated on 60 clips taken from the same dataset. The evaluation test can be explained below:</a:t>
            </a: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CA26B7-3199-44F9-97BF-C4526B833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416847"/>
              </p:ext>
            </p:extLst>
          </p:nvPr>
        </p:nvGraphicFramePr>
        <p:xfrm>
          <a:off x="840906" y="3988381"/>
          <a:ext cx="10022111" cy="1874288"/>
        </p:xfrm>
        <a:graphic>
          <a:graphicData uri="http://schemas.openxmlformats.org/drawingml/2006/table">
            <a:tbl>
              <a:tblPr firstRow="1" firstCol="1" bandRow="1">
                <a:tableStyleId>{93296810-A885-4BE3-A3E7-6D5BEEA58F35}</a:tableStyleId>
              </a:tblPr>
              <a:tblGrid>
                <a:gridCol w="2444630">
                  <a:extLst>
                    <a:ext uri="{9D8B030D-6E8A-4147-A177-3AD203B41FA5}">
                      <a16:colId xmlns:a16="http://schemas.microsoft.com/office/drawing/2014/main" val="3809572241"/>
                    </a:ext>
                  </a:extLst>
                </a:gridCol>
                <a:gridCol w="2078152">
                  <a:extLst>
                    <a:ext uri="{9D8B030D-6E8A-4147-A177-3AD203B41FA5}">
                      <a16:colId xmlns:a16="http://schemas.microsoft.com/office/drawing/2014/main" val="1640512054"/>
                    </a:ext>
                  </a:extLst>
                </a:gridCol>
                <a:gridCol w="1955269">
                  <a:extLst>
                    <a:ext uri="{9D8B030D-6E8A-4147-A177-3AD203B41FA5}">
                      <a16:colId xmlns:a16="http://schemas.microsoft.com/office/drawing/2014/main" val="3561229697"/>
                    </a:ext>
                  </a:extLst>
                </a:gridCol>
                <a:gridCol w="1710588">
                  <a:extLst>
                    <a:ext uri="{9D8B030D-6E8A-4147-A177-3AD203B41FA5}">
                      <a16:colId xmlns:a16="http://schemas.microsoft.com/office/drawing/2014/main" val="1366842677"/>
                    </a:ext>
                  </a:extLst>
                </a:gridCol>
                <a:gridCol w="1833472">
                  <a:extLst>
                    <a:ext uri="{9D8B030D-6E8A-4147-A177-3AD203B41FA5}">
                      <a16:colId xmlns:a16="http://schemas.microsoft.com/office/drawing/2014/main" val="2235516379"/>
                    </a:ext>
                  </a:extLst>
                </a:gridCol>
              </a:tblGrid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Condition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Mean loss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Change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Worse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502716"/>
                  </a:ext>
                </a:extLst>
              </a:tr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Removed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0.34955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+0.11885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59/60</a:t>
                      </a:r>
                      <a:endParaRPr lang="en-US" sz="32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&lt; 0.0001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399021"/>
                  </a:ext>
                </a:extLst>
              </a:tr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Moved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0.29089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+0.06019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43/60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0.0005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3072379"/>
                  </a:ext>
                </a:extLst>
              </a:tr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Scrambled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0.84472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+0.61402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59/60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&lt; 0.0001</a:t>
                      </a:r>
                      <a:endParaRPr lang="en-US" sz="32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3495908"/>
                  </a:ext>
                </a:extLst>
              </a:tr>
            </a:tbl>
          </a:graphicData>
        </a:graphic>
      </p:graphicFrame>
      <p:sp>
        <p:nvSpPr>
          <p:cNvPr id="28" name="Text 15">
            <a:extLst>
              <a:ext uri="{FF2B5EF4-FFF2-40B4-BE49-F238E27FC236}">
                <a16:creationId xmlns:a16="http://schemas.microsoft.com/office/drawing/2014/main" id="{8C694F70-599C-4B0B-B290-7C705A37285A}"/>
              </a:ext>
            </a:extLst>
          </p:cNvPr>
          <p:cNvSpPr/>
          <p:nvPr/>
        </p:nvSpPr>
        <p:spPr>
          <a:xfrm>
            <a:off x="840907" y="6344617"/>
            <a:ext cx="9869714" cy="27243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Where:</a:t>
            </a:r>
          </a:p>
          <a:p>
            <a:pPr marL="342900" indent="-342900" algn="just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Removed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Test whether the tags carries information</a:t>
            </a:r>
          </a:p>
          <a:p>
            <a:pPr marL="342900" indent="-342900" algn="just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Moved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Test whether the tag’s position carries information</a:t>
            </a:r>
          </a:p>
          <a:p>
            <a:pPr marL="342900" indent="-342900" algn="just">
              <a:lnSpc>
                <a:spcPct val="114853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Scrambled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Control Test</a:t>
            </a:r>
          </a:p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Based on our analysis, Smean TTS can be trained to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conditioned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on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newer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and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existing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tags, however, we would need large volumes of data in order to make the tags fire reliably across different sentences, and tags placement.</a:t>
            </a: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EAB7999-432B-467A-AB4C-1775A269ABE4}"/>
              </a:ext>
            </a:extLst>
          </p:cNvPr>
          <p:cNvSpPr/>
          <p:nvPr/>
        </p:nvSpPr>
        <p:spPr>
          <a:xfrm>
            <a:off x="840906" y="5909135"/>
            <a:ext cx="9869714" cy="389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just">
              <a:lnSpc>
                <a:spcPct val="114853"/>
              </a:lnSpc>
            </a:pPr>
            <a:r>
              <a:rPr lang="en-US" sz="20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Training Loss: 0.23070</a:t>
            </a:r>
          </a:p>
        </p:txBody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665C7922-3295-42A9-88BF-9EB9114B9F86}"/>
              </a:ext>
            </a:extLst>
          </p:cNvPr>
          <p:cNvSpPr/>
          <p:nvPr/>
        </p:nvSpPr>
        <p:spPr>
          <a:xfrm>
            <a:off x="688509" y="9143301"/>
            <a:ext cx="9869714" cy="389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just">
              <a:lnSpc>
                <a:spcPct val="114853"/>
              </a:lnSpc>
            </a:pPr>
            <a:r>
              <a:rPr lang="en-US" sz="20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Sample audio can be listened 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here</a:t>
            </a:r>
            <a:endParaRPr lang="en-US" sz="2000" i="1" dirty="0">
              <a:solidFill>
                <a:schemeClr val="bg2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A308C96B-6096-4BBB-9D35-3AF25A802194}"/>
              </a:ext>
            </a:extLst>
          </p:cNvPr>
          <p:cNvSpPr/>
          <p:nvPr/>
        </p:nvSpPr>
        <p:spPr>
          <a:xfrm>
            <a:off x="11479879" y="4234021"/>
            <a:ext cx="4630978" cy="11883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Removing, and moving tags does affect its loss, therefore we can conclude that teaching the model to use tags does work.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2C1BE3-1E3D-414A-9CE6-3192002717F7}"/>
              </a:ext>
            </a:extLst>
          </p:cNvPr>
          <p:cNvCxnSpPr/>
          <p:nvPr/>
        </p:nvCxnSpPr>
        <p:spPr>
          <a:xfrm>
            <a:off x="11411299" y="4331371"/>
            <a:ext cx="0" cy="1188307"/>
          </a:xfrm>
          <a:prstGeom prst="line">
            <a:avLst/>
          </a:prstGeom>
          <a:ln w="19050">
            <a:solidFill>
              <a:srgbClr val="7677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315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E41674B-3A28-4A10-BE8B-919C3E3A4D31}"/>
              </a:ext>
            </a:extLst>
          </p:cNvPr>
          <p:cNvGrpSpPr/>
          <p:nvPr/>
        </p:nvGrpSpPr>
        <p:grpSpPr>
          <a:xfrm>
            <a:off x="688508" y="832167"/>
            <a:ext cx="7468521" cy="867471"/>
            <a:chOff x="5550794" y="437377"/>
            <a:chExt cx="9092485" cy="867471"/>
          </a:xfrm>
        </p:grpSpPr>
        <p:sp>
          <p:nvSpPr>
            <p:cNvPr id="36" name="Text 10">
              <a:extLst>
                <a:ext uri="{FF2B5EF4-FFF2-40B4-BE49-F238E27FC236}">
                  <a16:creationId xmlns:a16="http://schemas.microsoft.com/office/drawing/2014/main" id="{653710F3-73F0-4CC1-9253-3E1A5D14AAF0}"/>
                </a:ext>
              </a:extLst>
            </p:cNvPr>
            <p:cNvSpPr/>
            <p:nvPr/>
          </p:nvSpPr>
          <p:spPr>
            <a:xfrm>
              <a:off x="5550794" y="437377"/>
              <a:ext cx="9092485" cy="82085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93867"/>
                </a:lnSpc>
                <a:buNone/>
              </a:pPr>
              <a:r>
                <a:rPr lang="en-US" sz="4800" b="1" kern="0" spc="-36" dirty="0">
                  <a:solidFill>
                    <a:srgbClr val="0B5852"/>
                  </a:solidFill>
                  <a:latin typeface="Georgia" panose="02040502050405020303" pitchFamily="18" charset="0"/>
                  <a:ea typeface="Barlow Condensed" pitchFamily="34" charset="-122"/>
                </a:rPr>
                <a:t>Controlling Prosody</a:t>
              </a:r>
              <a:endParaRPr lang="en-US" sz="4800" b="1" dirty="0">
                <a:latin typeface="Georgia" panose="02040502050405020303" pitchFamily="18" charset="0"/>
              </a:endParaRPr>
            </a:p>
          </p:txBody>
        </p:sp>
        <p:sp>
          <p:nvSpPr>
            <p:cNvPr id="48" name="Shape 1">
              <a:extLst>
                <a:ext uri="{FF2B5EF4-FFF2-40B4-BE49-F238E27FC236}">
                  <a16:creationId xmlns:a16="http://schemas.microsoft.com/office/drawing/2014/main" id="{D062D97B-2B0C-4CB5-8535-9E819970BA10}"/>
                </a:ext>
              </a:extLst>
            </p:cNvPr>
            <p:cNvSpPr/>
            <p:nvPr/>
          </p:nvSpPr>
          <p:spPr>
            <a:xfrm>
              <a:off x="5550794" y="1258232"/>
              <a:ext cx="7593708" cy="46616"/>
            </a:xfrm>
            <a:prstGeom prst="rect">
              <a:avLst/>
            </a:prstGeom>
            <a:solidFill>
              <a:srgbClr val="0B5852"/>
            </a:solidFill>
            <a:ln/>
          </p:spPr>
        </p:sp>
      </p:grpSp>
      <p:sp>
        <p:nvSpPr>
          <p:cNvPr id="87" name="Shape 0">
            <a:extLst>
              <a:ext uri="{FF2B5EF4-FFF2-40B4-BE49-F238E27FC236}">
                <a16:creationId xmlns:a16="http://schemas.microsoft.com/office/drawing/2014/main" id="{D0E0CC4D-0857-4350-BEF7-5F0684DE29AA}"/>
              </a:ext>
            </a:extLst>
          </p:cNvPr>
          <p:cNvSpPr/>
          <p:nvPr/>
        </p:nvSpPr>
        <p:spPr>
          <a:xfrm>
            <a:off x="0" y="9897984"/>
            <a:ext cx="18288000" cy="389016"/>
          </a:xfrm>
          <a:prstGeom prst="rect">
            <a:avLst/>
          </a:prstGeom>
          <a:solidFill>
            <a:srgbClr val="083B37"/>
          </a:solidFill>
          <a:ln/>
        </p:spPr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25ABC882-AA56-428F-A384-65A5EACB25DB}"/>
              </a:ext>
            </a:extLst>
          </p:cNvPr>
          <p:cNvSpPr/>
          <p:nvPr/>
        </p:nvSpPr>
        <p:spPr>
          <a:xfrm>
            <a:off x="840907" y="2120491"/>
            <a:ext cx="10610863" cy="1487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To gauge Smean TTS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prosodic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control, we used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eight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Khmer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sentences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drawn from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DDD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Dataset, and for each prosodic axis, three prompt were written to test the level of control (low, normal, and high). Prompts and level can be seen below:</a:t>
            </a: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B8785C58-43F6-42BD-9984-0A2F212B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892258"/>
              </p:ext>
            </p:extLst>
          </p:nvPr>
        </p:nvGraphicFramePr>
        <p:xfrm>
          <a:off x="840906" y="3924523"/>
          <a:ext cx="10610865" cy="1874288"/>
        </p:xfrm>
        <a:graphic>
          <a:graphicData uri="http://schemas.openxmlformats.org/drawingml/2006/table">
            <a:tbl>
              <a:tblPr firstRow="1" firstCol="1" bandRow="1">
                <a:tableStyleId>{93296810-A885-4BE3-A3E7-6D5BEEA58F35}</a:tableStyleId>
              </a:tblPr>
              <a:tblGrid>
                <a:gridCol w="1452351">
                  <a:extLst>
                    <a:ext uri="{9D8B030D-6E8A-4147-A177-3AD203B41FA5}">
                      <a16:colId xmlns:a16="http://schemas.microsoft.com/office/drawing/2014/main" val="3809572241"/>
                    </a:ext>
                  </a:extLst>
                </a:gridCol>
                <a:gridCol w="2873829">
                  <a:extLst>
                    <a:ext uri="{9D8B030D-6E8A-4147-A177-3AD203B41FA5}">
                      <a16:colId xmlns:a16="http://schemas.microsoft.com/office/drawing/2014/main" val="1640512054"/>
                    </a:ext>
                  </a:extLst>
                </a:gridCol>
                <a:gridCol w="3570514">
                  <a:extLst>
                    <a:ext uri="{9D8B030D-6E8A-4147-A177-3AD203B41FA5}">
                      <a16:colId xmlns:a16="http://schemas.microsoft.com/office/drawing/2014/main" val="3561229697"/>
                    </a:ext>
                  </a:extLst>
                </a:gridCol>
                <a:gridCol w="2714171">
                  <a:extLst>
                    <a:ext uri="{9D8B030D-6E8A-4147-A177-3AD203B41FA5}">
                      <a16:colId xmlns:a16="http://schemas.microsoft.com/office/drawing/2014/main" val="1366842677"/>
                    </a:ext>
                  </a:extLst>
                </a:gridCol>
              </a:tblGrid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Axis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Level 0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Level 1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Level 2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502716"/>
                  </a:ext>
                </a:extLst>
              </a:tr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Pitch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(a low-pitched voice)</a:t>
                      </a:r>
                      <a:endParaRPr lang="en-US" sz="20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 dirty="0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(a normal-pitched voice)</a:t>
                      </a:r>
                      <a:endParaRPr lang="en-US" sz="20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 dirty="0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(a high-pitched voice)</a:t>
                      </a:r>
                      <a:endParaRPr lang="en-US" sz="20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399021"/>
                  </a:ext>
                </a:extLst>
              </a:tr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Energy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(speaking softly, quietly)</a:t>
                      </a:r>
                      <a:endParaRPr lang="en-US" sz="20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(speaking at a normal volume)</a:t>
                      </a:r>
                      <a:endParaRPr lang="en-US" sz="20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(speaking loudly)</a:t>
                      </a:r>
                      <a:endParaRPr lang="en-US" sz="20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3072379"/>
                  </a:ext>
                </a:extLst>
              </a:tr>
              <a:tr h="468572"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Rate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85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(speaking slowly)</a:t>
                      </a:r>
                      <a:endParaRPr lang="en-US" sz="20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(speaking at a normal pace)</a:t>
                      </a:r>
                      <a:endParaRPr lang="en-US" sz="200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0000"/>
                        </a:lnSpc>
                        <a:spcBef>
                          <a:spcPts val="260"/>
                        </a:spcBef>
                        <a:spcAft>
                          <a:spcPts val="260"/>
                        </a:spcAft>
                      </a:pPr>
                      <a:r>
                        <a:rPr lang="en-US" sz="2000" i="1" dirty="0">
                          <a:solidFill>
                            <a:srgbClr val="11111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Cambria" panose="02040503050406030204" pitchFamily="18" charset="0"/>
                        </a:rPr>
                        <a:t>(speaking quickly)</a:t>
                      </a:r>
                      <a:endParaRPr lang="en-US" sz="2000" dirty="0">
                        <a:solidFill>
                          <a:srgbClr val="11111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Khmer OS System" panose="02000500000000020004" pitchFamily="2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3495908"/>
                  </a:ext>
                </a:extLst>
              </a:tr>
            </a:tbl>
          </a:graphicData>
        </a:graphic>
      </p:graphicFrame>
      <p:sp>
        <p:nvSpPr>
          <p:cNvPr id="29" name="Text 15">
            <a:extLst>
              <a:ext uri="{FF2B5EF4-FFF2-40B4-BE49-F238E27FC236}">
                <a16:creationId xmlns:a16="http://schemas.microsoft.com/office/drawing/2014/main" id="{3788632E-DA2F-43E4-AD82-0892556012B4}"/>
              </a:ext>
            </a:extLst>
          </p:cNvPr>
          <p:cNvSpPr/>
          <p:nvPr/>
        </p:nvSpPr>
        <p:spPr>
          <a:xfrm>
            <a:off x="840907" y="6302755"/>
            <a:ext cx="10610863" cy="31520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Based on our analysis, all axis has a very low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p-value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of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~0.0002-0.003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This suggest that those prompt can be reliably plug in to any sentences, and it will behave as exactly intended (changing, pitch, energy, and speaking rate).</a:t>
            </a:r>
          </a:p>
          <a:p>
            <a:pPr algn="just">
              <a:lnSpc>
                <a:spcPct val="114853"/>
              </a:lnSpc>
            </a:pPr>
            <a:endParaRPr lang="en-US" sz="2000" dirty="0">
              <a:solidFill>
                <a:schemeClr val="bg2">
                  <a:lumMod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14853"/>
              </a:lnSpc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Our next step is explore more prompt, and gauge which prompt is most reliably for which prosodic control. We will also engineer a prompt that can modify pitch variation, so the model can produce non-monotonic tone.</a:t>
            </a:r>
          </a:p>
        </p:txBody>
      </p:sp>
    </p:spTree>
    <p:extLst>
      <p:ext uri="{BB962C8B-B14F-4D97-AF65-F5344CB8AC3E}">
        <p14:creationId xmlns:p14="http://schemas.microsoft.com/office/powerpoint/2010/main" val="15913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966</Words>
  <Application>Microsoft Office PowerPoint</Application>
  <PresentationFormat>Custom</PresentationFormat>
  <Paragraphs>119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Barlow</vt:lpstr>
      <vt:lpstr>Barlow Condensed</vt:lpstr>
      <vt:lpstr>Calibri</vt:lpstr>
      <vt:lpstr>Cambria</vt:lpstr>
      <vt:lpstr>Georgia</vt:lpstr>
      <vt:lpstr>Khmer OS System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NHEM DARAYUT</cp:lastModifiedBy>
  <cp:revision>20</cp:revision>
  <dcterms:created xsi:type="dcterms:W3CDTF">2026-09-10T03:25:27Z</dcterms:created>
  <dcterms:modified xsi:type="dcterms:W3CDTF">2026-09-10T06:33:34Z</dcterms:modified>
</cp:coreProperties>
</file>